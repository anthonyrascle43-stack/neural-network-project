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f169356-dbb5-7748-0a54-438912019184}">
          <p14:sldIdLst>
            <p14:sldId id="256"/>
          </p14:sldIdLst>
        </p14:section>
        <p14:section name="The brief" id="{514a7d4b-47c1-b546-4814-8443a3fabfde}">
          <p14:sldIdLst>
            <p14:sldId id="257"/>
          </p14:sldIdLst>
        </p14:section>
        <p14:section name="Data" id="{fd604004-7e7d-c36f-73fd-a5e7afd1999e}">
          <p14:sldIdLst>
            <p14:sldId id="258"/>
          </p14:sldIdLst>
        </p14:section>
        <p14:section name="Feed-forward network" id="{528816d6-cad3-63b7-5c34-4fc48afbec59}">
          <p14:sldIdLst>
            <p14:sldId id="259"/>
            <p14:sldId id="260"/>
            <p14:sldId id="261"/>
            <p14:sldId id="262"/>
          </p14:sldIdLst>
        </p14:section>
        <p14:section name="Pretrained CNN and comparison" id="{84a3ac5f-1b98-fa8d-bcdb-dd0d70e4301a}">
          <p14:sldIdLst>
            <p14:sldId id="263"/>
            <p14:sldId id="264"/>
            <p14:sldId id="265"/>
            <p14:sldId id="266"/>
          </p14:sldIdLst>
        </p14:section>
        <p14:section name="The guide" id="{a493b3ca-fdca-d45a-1586-83287f7ceab8}">
          <p14:sldIdLst>
            <p14:sldId id="267"/>
          </p14:sldIdLst>
        </p14:section>
        <p14:section name="Questions" id="{2d78e4a4-061b-6642-8138-24936b5300b5}">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3EEE5"/>
                </a:solidFill>
                <a:latin typeface="+mn-lt"/>
              </a:defRPr>
            </a:pPr>
            <a:r>
              <a:rPr sz="1400" b="0" i="0" u="none" strike="noStrike">
                <a:solidFill>
                  <a:srgbClr val="F3EEE5"/>
                </a:solidFill>
                <a:latin typeface="+mn-lt"/>
              </a:rPr>
              <a:t>Best validation accuracy, 3 seeds</a:t>
            </a:r>
          </a:p>
        </c:rich>
      </c:tx>
      <c:layout/>
      <c:overlay val="0"/>
    </c:title>
    <c:autoTitleDeleted val="0"/>
    <c:plotArea>
      <c:layout/>
      <c:barChart>
        <c:barDir val="col"/>
        <c:grouping val="clustered"/>
        <c:varyColors val="0"/>
        <c:ser>
          <c:idx val="0"/>
          <c:order val="0"/>
          <c:tx>
            <c:strRef>
              <c:f>Sheet1!$B$1</c:f>
              <c:strCache>
                <c:ptCount val="1"/>
                <c:pt idx="0">
                  <c:v>Best validation accuracy</c:v>
                </c:pt>
              </c:strCache>
            </c:strRef>
          </c:tx>
          <c:spPr>
            <a:solidFill>
              <a:srgbClr val="C9A44C"/>
            </a:solidFill>
            <a:effectLst/>
          </c:spPr>
          <c:invertIfNegative val="0"/>
          <c:dLbls>
            <c:numFmt formatCode="0.0&quot;%&quot;"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cat>
            <c:multiLvlStrRef>
              <c:f>Sheet1!$A$2:$A$4</c:f>
              <c:multiLvlStrCache>
                <c:ptCount val="3"/>
                <c:lvl>
                  <c:pt idx="0">
                    <c:v>32 px</c:v>
                  </c:pt>
                  <c:pt idx="1">
                    <c:v>64 px</c:v>
                  </c:pt>
                  <c:pt idx="2">
                    <c:v>128 px</c:v>
                  </c:pt>
                </c:lvl>
              </c:multiLvlStrCache>
            </c:multiLvlStrRef>
          </c:cat>
          <c:val>
            <c:numRef>
              <c:f>Sheet1!$B$2:$B$4</c:f>
              <c:numCache>
                <c:formatCode>General</c:formatCode>
                <c:ptCount val="3"/>
                <c:pt idx="0">
                  <c:v>43</c:v>
                </c:pt>
                <c:pt idx="1">
                  <c:v>42.5</c:v>
                </c:pt>
                <c:pt idx="2">
                  <c:v>41.2</c:v>
                </c:pt>
              </c:numCache>
            </c:numRef>
          </c:val>
        </c:ser>
        <c:dLbls>
          <c:numFmt formatCode="0.0&quot;%&quot;"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D9D2C5"/>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B4AC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3EEE5"/>
                </a:solidFill>
                <a:latin typeface="+mn-lt"/>
              </a:defRPr>
            </a:pPr>
            <a:r>
              <a:rPr sz="1400" b="0" i="0" u="none" strike="noStrike">
                <a:solidFill>
                  <a:srgbClr val="F3EEE5"/>
                </a:solidFill>
                <a:latin typeface="+mn-lt"/>
              </a:rPr>
              <a:t>Parameters</a:t>
            </a:r>
          </a:p>
        </c:rich>
      </c:tx>
      <c:layout/>
      <c:overlay val="0"/>
    </c:title>
    <c:autoTitleDeleted val="0"/>
    <c:plotArea>
      <c:layout/>
      <c:barChart>
        <c:barDir val="col"/>
        <c:grouping val="clustered"/>
        <c:varyColors val="0"/>
        <c:ser>
          <c:idx val="0"/>
          <c:order val="0"/>
          <c:tx>
            <c:strRef>
              <c:f>Sheet1!$B$1</c:f>
              <c:strCache>
                <c:ptCount val="1"/>
                <c:pt idx="0">
                  <c:v>Parameters</c:v>
                </c:pt>
              </c:strCache>
            </c:strRef>
          </c:tx>
          <c:spPr>
            <a:solidFill>
              <a:srgbClr val="7E9C86"/>
            </a:solidFill>
            <a:effectLst/>
          </c:spPr>
          <c:invertIfNegative val="0"/>
          <c:dLbls>
            <c:numFmt formatCode="0.0&quot; M&quot;"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cat>
            <c:multiLvlStrRef>
              <c:f>Sheet1!$A$2:$A$4</c:f>
              <c:multiLvlStrCache>
                <c:ptCount val="3"/>
                <c:lvl>
                  <c:pt idx="0">
                    <c:v>32 px</c:v>
                  </c:pt>
                  <c:pt idx="1">
                    <c:v>64 px</c:v>
                  </c:pt>
                  <c:pt idx="2">
                    <c:v>128 px</c:v>
                  </c:pt>
                </c:lvl>
              </c:multiLvlStrCache>
            </c:multiLvlStrRef>
          </c:cat>
          <c:val>
            <c:numRef>
              <c:f>Sheet1!$B$2:$B$4</c:f>
              <c:numCache>
                <c:formatCode>General</c:formatCode>
                <c:ptCount val="3"/>
                <c:pt idx="0">
                  <c:v>0.82</c:v>
                </c:pt>
                <c:pt idx="1">
                  <c:v>3.18</c:v>
                </c:pt>
                <c:pt idx="2">
                  <c:v>12.62</c:v>
                </c:pt>
              </c:numCache>
            </c:numRef>
          </c:val>
        </c:ser>
        <c:dLbls>
          <c:numFmt formatCode="0.0&quot; M&quot;"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D9D2C5"/>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B4AC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3EEE5"/>
                </a:solidFill>
                <a:latin typeface="+mn-lt"/>
              </a:defRPr>
            </a:pPr>
            <a:r>
              <a:rPr sz="1400" b="0" i="0" u="none" strike="noStrike">
                <a:solidFill>
                  <a:srgbClr val="F3EEE5"/>
                </a:solidFill>
                <a:latin typeface="+mn-lt"/>
              </a:rPr>
              <a:t>Accuracy of the model we keep (%), 3 seeds</a:t>
            </a:r>
          </a:p>
        </c:rich>
      </c:tx>
      <c:layout/>
      <c:overlay val="0"/>
    </c:title>
    <c:autoTitleDeleted val="0"/>
    <c:plotArea>
      <c:layout/>
      <c:barChart>
        <c:barDir val="col"/>
        <c:grouping val="clustered"/>
        <c:varyColors val="0"/>
        <c:ser>
          <c:idx val="0"/>
          <c:order val="0"/>
          <c:tx>
            <c:strRef>
              <c:f>Sheet1!$B$1</c:f>
              <c:strCache>
                <c:ptCount val="1"/>
                <c:pt idx="0">
                  <c:v>Training</c:v>
                </c:pt>
              </c:strCache>
            </c:strRef>
          </c:tx>
          <c:spPr>
            <a:solidFill>
              <a:srgbClr val="7E9C86"/>
            </a:solidFill>
            <a:effectLst/>
          </c:spPr>
          <c:invertIfNegative val="0"/>
          <c:dLbls>
            <c:numFmt formatCode="0.0"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cat>
            <c:multiLvlStrRef>
              <c:f>Sheet1!$A$2:$A$7</c:f>
              <c:multiLvlStrCache>
                <c:ptCount val="6"/>
                <c:lvl>
                  <c:pt idx="0">
                    <c:v>baseline 64 px</c:v>
                  </c:pt>
                  <c:pt idx="1">
                    <c:v>+ 32 px</c:v>
                  </c:pt>
                  <c:pt idx="2">
                    <c:v>+ dropout</c:v>
                  </c:pt>
                  <c:pt idx="3">
                    <c:v>+ weight decay</c:v>
                  </c:pt>
                  <c:pt idx="4">
                    <c:v>+ augmentation</c:v>
                  </c:pt>
                  <c:pt idx="5">
                    <c:v>+ early stopping</c:v>
                  </c:pt>
                </c:lvl>
              </c:multiLvlStrCache>
            </c:multiLvlStrRef>
          </c:cat>
          <c:val>
            <c:numRef>
              <c:f>Sheet1!$B$2:$B$7</c:f>
              <c:numCache>
                <c:formatCode>General</c:formatCode>
                <c:ptCount val="6"/>
                <c:pt idx="0">
                  <c:v>99.1</c:v>
                </c:pt>
                <c:pt idx="1">
                  <c:v>99.5</c:v>
                </c:pt>
                <c:pt idx="2">
                  <c:v>91.7</c:v>
                </c:pt>
                <c:pt idx="3">
                  <c:v>91.8</c:v>
                </c:pt>
                <c:pt idx="4">
                  <c:v>61.3</c:v>
                </c:pt>
                <c:pt idx="5">
                  <c:v>56.7</c:v>
                </c:pt>
              </c:numCache>
            </c:numRef>
          </c:val>
        </c:ser>
        <c:ser>
          <c:idx val="1"/>
          <c:order val="1"/>
          <c:tx>
            <c:strRef>
              <c:f>Sheet1!$C$1</c:f>
              <c:strCache>
                <c:ptCount val="1"/>
                <c:pt idx="0">
                  <c:v>Validation</c:v>
                </c:pt>
              </c:strCache>
            </c:strRef>
          </c:tx>
          <c:spPr>
            <a:solidFill>
              <a:srgbClr val="C9A44C"/>
            </a:solidFill>
            <a:effectLst/>
          </c:spPr>
          <c:invertIfNegative val="0"/>
          <c:dLbls>
            <c:numFmt formatCode="0.0"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cat>
            <c:multiLvlStrRef>
              <c:f>Sheet1!$A$2:$A$7</c:f>
              <c:multiLvlStrCache>
                <c:ptCount val="6"/>
                <c:lvl>
                  <c:pt idx="0">
                    <c:v>baseline 64 px</c:v>
                  </c:pt>
                  <c:pt idx="1">
                    <c:v>+ 32 px</c:v>
                  </c:pt>
                  <c:pt idx="2">
                    <c:v>+ dropout</c:v>
                  </c:pt>
                  <c:pt idx="3">
                    <c:v>+ weight decay</c:v>
                  </c:pt>
                  <c:pt idx="4">
                    <c:v>+ augmentation</c:v>
                  </c:pt>
                  <c:pt idx="5">
                    <c:v>+ early stopping</c:v>
                  </c:pt>
                </c:lvl>
              </c:multiLvlStrCache>
            </c:multiLvlStrRef>
          </c:cat>
          <c:val>
            <c:numRef>
              <c:f>Sheet1!$C$2:$C$7</c:f>
              <c:numCache>
                <c:formatCode>General</c:formatCode>
                <c:ptCount val="6"/>
                <c:pt idx="0">
                  <c:v>36.9</c:v>
                </c:pt>
                <c:pt idx="1">
                  <c:v>38.1</c:v>
                </c:pt>
                <c:pt idx="2">
                  <c:v>38.4</c:v>
                </c:pt>
                <c:pt idx="3">
                  <c:v>39.3</c:v>
                </c:pt>
                <c:pt idx="4">
                  <c:v>43.7</c:v>
                </c:pt>
                <c:pt idx="5">
                  <c:v>44.7</c:v>
                </c:pt>
              </c:numCache>
            </c:numRef>
          </c:val>
        </c:ser>
        <c:dLbls>
          <c:numFmt formatCode="0.0"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D9D2C5"/>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B4AC9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D9D2C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Anthony, Antoine and Lenny. Our project is a museum guide: you point your phone or a kiosk at a painting, it tells you the style and the story behind it. Behind that there's one real question from the director, and that's what the next 10 minutes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museum wants a guide for phones and kiosks, with five styles. The director's question is simple: kiosks are slow and the budget is small, so is a neural network worth it? Before training anything, we wrote down three criteria: at least 85 % on the test set and clearly better than a classical model, under 40 milliseconds per image on one CPU thread, because our laptops are much faster than a kiosk, and under 100 MB. The cheapest model that passes all three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a WikiArt subset: 300 images per style, 128 pixels. We split it once, stratified, and every model uses the same split. The test set is only used once, at the very end. It has limits: most images have no artist, two styles come from only one or two source files, and some 'paintings' are actually photos of sculptures. We checked later that our network didn't use that as a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network is a plain feed-forward network: we flatten the image into one long vector, then two hidden layers and five scores. Almost all the parameters are in the first layer, because every pixel connects to every unit. We checked the initialisation: at the start the loss is ln 5, so the network doesn't prefer any style. Then we tried three image sizes. Bigger images don't help at all, they just add parameters, so we kept 32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blaming the model, we checked the training itself. The initial loss is right, and the network can memorise one batch in seven steps, so the code works. Then the learning rate: too small and nothing moves, too big and it breaks. At 0.01, 96 % of the second-layer ReLUs are dead: they output zero for every image and never come back, so the network predicts the same thing for everything. 1e-4 was the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real problem. The big network gets almost 100 % on the training images but only 38 % on new ones. And it becomes more and more confident even when it's wrong, which is why the validation loss goes up. The strongest proof: when we shuffle the labels randomly, it still reaches 99 % on training. So that 99 % means nothing: it memorises, it doesn't learn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added the fixes one at a time, three seeds each. Augmentation, so it never sees exactly the same image twice, and early stopping, so we keep the best epoch, do almost all the work: the gap goes from 62 points to 12. Removing each fix one at a time confirmed it. Our final network is tiny and very fast, but it only reaches about 46 %. It mostly reads colours. That's the limit of a network that sees pixels one by one, and it's where Antoine takes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classical_features.png, classical_val_confusion.png, classical_val_grid.png. Numbers: results/classical.json.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resnet_frozen_curves.png, resnet_finetune_curves.png, resnet_scratch_vs_pretrained.png, resnet_gradcam.png, resnet_finetune_confident_mistakes.png. Numbers: results/resnet_frozen.json, results/resnet_finetune.json.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07_comparison with FINAL_TEST=1 first (once, together). Figures: comparison_pareto_*.png, comparison_confusion_*.png, comparison_robustness_*.png. Numbers: the test fields of results/*.json.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cheapest model that passes all three criteria, from the final test run of 07_comparison.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visitor sees. The guide gives the style, how sure it is, and a short story about the movement. If it isn't sure enough, it says so instead of making something up. We chose that threshold on validation so it's right 90 % of the time when it answers, and it still answers 4 visitors out of 5. With our FFN it would have to stay quiet almost all the time. These numbers use the frozen ResNet on validation; we update them with the final model after the test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useum Titl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5760720" cy="36576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1874520"/>
            <a:ext cx="5760720" cy="19202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548640" y="3931920"/>
            <a:ext cx="5760720" cy="822960"/>
          </a:xfrm>
          <a:prstGeom prst="rect">
            <a:avLst/>
          </a:prstGeom>
          <a:noFill/>
          <a:ln/>
        </p:spPr>
        <p:txBody>
          <a:bodyPr wrap="square" rtlCol="0"/>
          <a:lstStyle>
            <a:lvl1pPr indent="0" marL="0">
              <a:buNone/>
              <a:defRPr lang="en-US" sz="1800" i="1" dirty="0">
                <a:solidFill>
                  <a:schemeClr val="accent6"/>
                </a:solidFill>
              </a:defRPr>
            </a:lvl1pPr>
          </a:lstStyle>
          <a:p>
            <a:pPr indent="0" marL="0">
              <a:buNone/>
            </a:pPr>
            <a:endParaRPr lang="en-US" sz="1800" dirty="0"/>
          </a:p>
        </p:txBody>
      </p:sp>
      <p:sp>
        <p:nvSpPr>
          <p:cNvPr id="5" name="Text 0"/>
          <p:cNvSpPr/>
          <p:nvPr>
            <p:ph idx="103" type="body" hasCustomPrompt="1"/>
          </p:nvPr>
        </p:nvSpPr>
        <p:spPr>
          <a:xfrm>
            <a:off x="548640" y="5120640"/>
            <a:ext cx="5760720" cy="36576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useum Conten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4"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bg2"/>
                </a:solidFill>
              </a:rPr>
              <a:t>Museum Guide  ·  Neural Networks and Deep Learning, final project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useum Placeholder">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4"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bg2"/>
                </a:solidFill>
              </a:rPr>
              <a:t>Museum Guide  ·  Neural Networks and Deep Learning, final project</a:t>
            </a:r>
            <a:endParaRPr lang="en-US" sz="1000" dirty="0"/>
          </a:p>
        </p:txBody>
      </p:sp>
      <p:sp>
        <p:nvSpPr>
          <p:cNvPr id="5" name="Text 1"/>
          <p:cNvSpPr/>
          <p:nvPr>
            <p:ph idx="103" type="body" hasCustomPrompt="1"/>
          </p:nvPr>
        </p:nvSpPr>
        <p:spPr>
          <a:xfrm>
            <a:off x="548640" y="2926080"/>
            <a:ext cx="11064240" cy="914400"/>
          </a:xfrm>
          <a:prstGeom prst="rect">
            <a:avLst/>
          </a:prstGeom>
          <a:noFill/>
          <a:ln/>
        </p:spPr>
        <p:txBody>
          <a:bodyPr wrap="square" rtlCol="0"/>
          <a:lstStyle>
            <a:lvl1pPr algn="ctr" indent="0" marL="0">
              <a:buNone/>
              <a:defRPr lang="en-US" sz="2000" i="1" dirty="0">
                <a:solidFill>
                  <a:schemeClr val="bg2"/>
                </a:solidFill>
              </a:defRPr>
            </a:lvl1pPr>
          </a:lstStyle>
          <a:p>
            <a:pPr algn="ctr" indent="0" marL="0">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seum 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1064240" cy="1097280"/>
          </a:xfrm>
          <a:prstGeom prst="rect">
            <a:avLst/>
          </a:prstGeom>
          <a:noFill/>
          <a:ln/>
        </p:spPr>
        <p:txBody>
          <a:bodyPr wrap="square" rtlCol="0"/>
          <a:lstStyle>
            <a:lvl1pPr algn="ctr" indent="0" marL="0">
              <a:buNone/>
              <a:defRPr lang="en-US" sz="4800" b="1" dirty="0">
                <a:solidFill>
                  <a:schemeClr val="bg1"/>
                </a:solidFill>
                <a:latin typeface="Cambria" pitchFamily="34" charset="0"/>
                <a:ea typeface="Cambria" pitchFamily="34" charset="-122"/>
                <a:cs typeface="Cambria" pitchFamily="34" charset="-120"/>
              </a:defRPr>
            </a:lvl1pPr>
          </a:lstStyle>
          <a:p>
            <a:pPr algn="ctr" indent="0" marL="0">
              <a:buNone/>
            </a:pPr>
            <a:endParaRPr lang="en-US" sz="4800" dirty="0"/>
          </a:p>
        </p:txBody>
      </p:sp>
      <p:sp>
        <p:nvSpPr>
          <p:cNvPr id="3" name="Text 0"/>
          <p:cNvSpPr/>
          <p:nvPr>
            <p:ph idx="101" type="body" hasCustomPrompt="1"/>
          </p:nvPr>
        </p:nvSpPr>
        <p:spPr>
          <a:xfrm>
            <a:off x="548640" y="3429000"/>
            <a:ext cx="11064240" cy="548640"/>
          </a:xfrm>
          <a:prstGeom prst="rect">
            <a:avLst/>
          </a:prstGeom>
          <a:noFill/>
          <a:ln/>
        </p:spPr>
        <p:txBody>
          <a:bodyPr wrap="square" rtlCol="0"/>
          <a:lstStyle>
            <a:lvl1pPr algn="ctr" indent="0" marL="0">
              <a:buNone/>
              <a:defRPr lang="en-US" sz="2000" i="1" dirty="0">
                <a:solidFill>
                  <a:schemeClr val="accent1"/>
                </a:solidFill>
              </a:defRPr>
            </a:lvl1pPr>
          </a:lstStyle>
          <a:p>
            <a:pPr algn="ctr" indent="0" marL="0">
              <a:buNone/>
            </a:pPr>
            <a:endParaRPr lang="en-US" sz="2000" dirty="0"/>
          </a:p>
        </p:txBody>
      </p:sp>
      <p:sp>
        <p:nvSpPr>
          <p:cNvPr id="4" name="Text 0"/>
          <p:cNvSpPr/>
          <p:nvPr>
            <p:ph idx="102" type="body" hasCustomPrompt="1"/>
          </p:nvPr>
        </p:nvSpPr>
        <p:spPr>
          <a:xfrm>
            <a:off x="548640" y="5120640"/>
            <a:ext cx="11064240" cy="365760"/>
          </a:xfrm>
          <a:prstGeom prst="rect">
            <a:avLst/>
          </a:prstGeom>
          <a:noFill/>
          <a:ln/>
        </p:spPr>
        <p:txBody>
          <a:bodyPr wrap="square" rtlCol="0"/>
          <a:lstStyle>
            <a:lvl1pPr algn="ctr" indent="0" marL="0">
              <a:buNone/>
              <a:defRPr lang="en-US" sz="1400" dirty="0">
                <a:solidFill>
                  <a:schemeClr val="bg2"/>
                </a:solidFill>
              </a:defRPr>
            </a:lvl1pPr>
          </a:lstStyle>
          <a:p>
            <a:pPr algn="ctr"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5760720" cy="365760"/>
          </a:xfrm>
          <a:prstGeom prst="rect">
            <a:avLst/>
          </a:prstGeom>
          <a:noFill/>
          <a:ln/>
        </p:spPr>
        <p:txBody>
          <a:bodyPr wrap="square" lIns="0" tIns="0" rIns="0" bIns="0" rtlCol="0"/>
          <a:lstStyle/>
          <a:p>
            <a:pPr indent="0" marL="0">
              <a:buNone/>
            </a:pPr>
            <a:r>
              <a:rPr lang="en-US" sz="1200" b="1" spc="200" kern="0" dirty="0">
                <a:solidFill>
                  <a:schemeClr val="accent1"/>
                </a:solidFill>
              </a:rPr>
              <a:t>NEURAL NETWORKS AND DEEP LEARNING · FINAL PROJECT</a:t>
            </a:r>
            <a:endParaRPr lang="en-US" sz="1200" dirty="0"/>
          </a:p>
        </p:txBody>
      </p:sp>
      <p:sp>
        <p:nvSpPr>
          <p:cNvPr id="3" name="Text 0"/>
          <p:cNvSpPr/>
          <p:nvPr>
            <p:ph idx="101" type="title" hasCustomPrompt="1"/>
          </p:nvPr>
        </p:nvSpPr>
        <p:spPr>
          <a:xfrm>
            <a:off x="548640" y="1874520"/>
            <a:ext cx="5760720" cy="19202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A museum guide that recognises painting styles</a:t>
            </a:r>
            <a:endParaRPr lang="en-US" sz="4000" dirty="0"/>
          </a:p>
        </p:txBody>
      </p:sp>
      <p:sp>
        <p:nvSpPr>
          <p:cNvPr id="4" name="Text 0"/>
          <p:cNvSpPr/>
          <p:nvPr>
            <p:ph idx="102" type="body" hasCustomPrompt="1"/>
          </p:nvPr>
        </p:nvSpPr>
        <p:spPr>
          <a:xfrm>
            <a:off x="548640" y="3931920"/>
            <a:ext cx="5760720" cy="822960"/>
          </a:xfrm>
          <a:prstGeom prst="rect">
            <a:avLst/>
          </a:prstGeom>
          <a:noFill/>
          <a:ln/>
        </p:spPr>
        <p:txBody>
          <a:bodyPr wrap="square" lIns="0" tIns="0" rIns="0" bIns="0" rtlCol="0" anchor="t"/>
          <a:lstStyle/>
          <a:p>
            <a:pPr indent="0" marL="0">
              <a:buNone/>
            </a:pPr>
            <a:r>
              <a:rPr lang="en-US" sz="1800" i="1" dirty="0">
                <a:solidFill>
                  <a:schemeClr val="accent6"/>
                </a:solidFill>
              </a:rPr>
              <a:t>Is a neural network worth it on the museum's kiosks?</a:t>
            </a:r>
            <a:endParaRPr lang="en-US" sz="1800" dirty="0"/>
          </a:p>
        </p:txBody>
      </p:sp>
      <p:sp>
        <p:nvSpPr>
          <p:cNvPr id="5" name="Text 0"/>
          <p:cNvSpPr/>
          <p:nvPr>
            <p:ph idx="103" type="body" hasCustomPrompt="1"/>
          </p:nvPr>
        </p:nvSpPr>
        <p:spPr>
          <a:xfrm>
            <a:off x="548640" y="5120640"/>
            <a:ext cx="5760720" cy="365760"/>
          </a:xfrm>
          <a:prstGeom prst="rect">
            <a:avLst/>
          </a:prstGeom>
          <a:noFill/>
          <a:ln/>
        </p:spPr>
        <p:txBody>
          <a:bodyPr wrap="square" lIns="0" tIns="0" rIns="0" bIns="0" rtlCol="0"/>
          <a:lstStyle/>
          <a:p>
            <a:pPr indent="0" marL="0">
              <a:buNone/>
            </a:pPr>
            <a:r>
              <a:rPr lang="en-US" sz="1400" dirty="0">
                <a:solidFill>
                  <a:schemeClr val="bg2"/>
                </a:solidFill>
              </a:rPr>
              <a:t>Anthony · Antoine · Lenny  |  October 2026</a:t>
            </a:r>
            <a:endParaRPr lang="en-US" sz="1400" dirty="0"/>
          </a:p>
        </p:txBody>
      </p:sp>
      <p:sp>
        <p:nvSpPr>
          <p:cNvPr id="6" name="Five styles, eight paintings each frame"/>
          <p:cNvSpPr/>
          <p:nvPr/>
        </p:nvSpPr>
        <p:spPr>
          <a:xfrm>
            <a:off x="6665976" y="1362456"/>
            <a:ext cx="5001768" cy="3395925"/>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7" name="Five styles, eight paintings each" descr="Five styles, eight paintings each">    </p:cNvPr>
          <p:cNvPicPr>
            <a:picLocks noChangeAspect="1"/>
          </p:cNvPicPr>
          <p:nvPr/>
        </p:nvPicPr>
        <p:blipFill>
          <a:blip r:embed="rId1"/>
          <a:stretch>
            <a:fillRect/>
          </a:stretch>
        </p:blipFill>
        <p:spPr>
          <a:xfrm>
            <a:off x="6720840" y="1417320"/>
            <a:ext cx="4892040" cy="328619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BRIEF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What the museum asked for</a:t>
            </a:r>
            <a:endParaRPr lang="en-US" sz="3600" dirty="0"/>
          </a:p>
        </p:txBody>
      </p:sp>
      <p:sp>
        <p:nvSpPr>
          <p:cNvPr id="4" name="The brief"/>
          <p:cNvSpPr txBox="1"/>
          <p:nvPr/>
        </p:nvSpPr>
        <p:spPr>
          <a:xfrm>
            <a:off x="548640" y="1691640"/>
            <a:ext cx="5120640" cy="329184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A guide on phones and gallery kiosks: point the camera at a painting, get its style and the story of the movement</a:t>
            </a:r>
            <a:endParaRPr lang="en-US" sz="1600" dirty="0"/>
          </a:p>
          <a:p>
            <a:pPr marL="228600" indent="-228600">
              <a:spcAft>
                <a:spcPts val="1000"/>
              </a:spcAft>
              <a:buSzPct val="100000"/>
              <a:buChar char="•"/>
            </a:pPr>
            <a:r>
              <a:rPr lang="en-US" sz="1600" dirty="0">
                <a:solidFill>
                  <a:schemeClr val="bg1"/>
                </a:solidFill>
              </a:rPr>
              <a:t>Five styles: Baroque, Cubism, Impressionism, Pop Art, Ukiyo-e</a:t>
            </a:r>
            <a:endParaRPr lang="en-US" sz="1600" dirty="0"/>
          </a:p>
          <a:p>
            <a:pPr marL="228600" indent="-228600">
              <a:spcAft>
                <a:spcPts val="1000"/>
              </a:spcAft>
              <a:buSzPct val="100000"/>
              <a:buChar char="•"/>
            </a:pPr>
            <a:r>
              <a:rPr lang="en-US" sz="1600" dirty="0">
                <a:solidFill>
                  <a:schemeClr val="bg1"/>
                </a:solidFill>
              </a:rPr>
              <a:t>The director's question: kiosks have modest CPUs and the budget is small. Is a neural network worth it, or would a classical model do?</a:t>
            </a:r>
            <a:endParaRPr lang="en-US" sz="1600" dirty="0"/>
          </a:p>
        </p:txBody>
      </p:sp>
      <p:sp>
        <p:nvSpPr>
          <p:cNvPr id="5" name="Rule"/>
          <p:cNvSpPr txBox="1"/>
          <p:nvPr/>
        </p:nvSpPr>
        <p:spPr>
          <a:xfrm>
            <a:off x="548640" y="5074920"/>
            <a:ext cx="5120640" cy="822960"/>
          </a:xfrm>
          <a:prstGeom prst="rect">
            <a:avLst/>
          </a:prstGeom>
          <a:noFill/>
          <a:ln/>
        </p:spPr>
        <p:txBody>
          <a:bodyPr wrap="square" lIns="0" tIns="0" rIns="0" bIns="0" rtlCol="0" anchor="t"/>
          <a:lstStyle/>
          <a:p>
            <a:pPr indent="0" marL="0">
              <a:buNone/>
            </a:pPr>
            <a:r>
              <a:rPr lang="en-US" sz="1400" i="1" dirty="0">
                <a:solidFill>
                  <a:schemeClr val="accent6"/>
                </a:solidFill>
              </a:rPr>
              <a:t>We fixed the three criteria before seeing any result. Our recommendation is the cheapest model that passes all three.</a:t>
            </a:r>
            <a:endParaRPr lang="en-US" sz="1400" dirty="0"/>
          </a:p>
        </p:txBody>
      </p:sp>
      <p:sp>
        <p:nvSpPr>
          <p:cNvPr id="6" name="Accuracy card"/>
          <p:cNvSpPr/>
          <p:nvPr/>
        </p:nvSpPr>
        <p:spPr>
          <a:xfrm>
            <a:off x="6172200" y="1691640"/>
            <a:ext cx="5440680" cy="1325880"/>
          </a:xfrm>
          <a:prstGeom prst="roundRect">
            <a:avLst>
              <a:gd name="adj" fmla="val 5517"/>
            </a:avLst>
          </a:prstGeom>
          <a:solidFill>
            <a:schemeClr val="tx2"/>
          </a:solidFill>
          <a:ln w="12700">
            <a:solidFill>
              <a:schemeClr val="tx2"/>
            </a:solidFill>
            <a:prstDash val="solid"/>
          </a:ln>
        </p:spPr>
      </p:sp>
      <p:sp>
        <p:nvSpPr>
          <p:cNvPr id="7" name="Accuracy number"/>
          <p:cNvSpPr txBox="1"/>
          <p:nvPr/>
        </p:nvSpPr>
        <p:spPr>
          <a:xfrm>
            <a:off x="6400800" y="1828800"/>
            <a:ext cx="498348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 85 %</a:t>
            </a:r>
            <a:endParaRPr lang="en-US" sz="3400" dirty="0"/>
          </a:p>
        </p:txBody>
      </p:sp>
      <p:sp>
        <p:nvSpPr>
          <p:cNvPr id="8" name="Accuracy label"/>
          <p:cNvSpPr txBox="1"/>
          <p:nvPr/>
        </p:nvSpPr>
        <p:spPr>
          <a:xfrm>
            <a:off x="6400800" y="2468880"/>
            <a:ext cx="4983480" cy="411480"/>
          </a:xfrm>
          <a:prstGeom prst="rect">
            <a:avLst/>
          </a:prstGeom>
          <a:noFill/>
          <a:ln/>
        </p:spPr>
        <p:txBody>
          <a:bodyPr wrap="square" lIns="0" tIns="0" rIns="0" bIns="0" rtlCol="0" anchor="t"/>
          <a:lstStyle/>
          <a:p>
            <a:pPr indent="0" marL="0">
              <a:buNone/>
            </a:pPr>
            <a:r>
              <a:rPr lang="en-US" sz="1400" dirty="0">
                <a:solidFill>
                  <a:schemeClr val="bg1"/>
                </a:solidFill>
              </a:rPr>
              <a:t>accuracy on the test set, and clearly better than the classical model (McNemar, p &lt; 0.05)</a:t>
            </a:r>
            <a:endParaRPr lang="en-US" sz="1400" dirty="0"/>
          </a:p>
        </p:txBody>
      </p:sp>
      <p:sp>
        <p:nvSpPr>
          <p:cNvPr id="9" name="Latency card"/>
          <p:cNvSpPr/>
          <p:nvPr/>
        </p:nvSpPr>
        <p:spPr>
          <a:xfrm>
            <a:off x="6172200" y="3246120"/>
            <a:ext cx="5440680" cy="1325880"/>
          </a:xfrm>
          <a:prstGeom prst="roundRect">
            <a:avLst>
              <a:gd name="adj" fmla="val 5517"/>
            </a:avLst>
          </a:prstGeom>
          <a:solidFill>
            <a:schemeClr val="tx2"/>
          </a:solidFill>
          <a:ln w="12700">
            <a:solidFill>
              <a:schemeClr val="tx2"/>
            </a:solidFill>
            <a:prstDash val="solid"/>
          </a:ln>
        </p:spPr>
      </p:sp>
      <p:sp>
        <p:nvSpPr>
          <p:cNvPr id="10" name="Latency number"/>
          <p:cNvSpPr txBox="1"/>
          <p:nvPr/>
        </p:nvSpPr>
        <p:spPr>
          <a:xfrm>
            <a:off x="6400800" y="3383280"/>
            <a:ext cx="498348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 40 ms</a:t>
            </a:r>
            <a:endParaRPr lang="en-US" sz="3400" dirty="0"/>
          </a:p>
        </p:txBody>
      </p:sp>
      <p:sp>
        <p:nvSpPr>
          <p:cNvPr id="11" name="Latency label"/>
          <p:cNvSpPr txBox="1"/>
          <p:nvPr/>
        </p:nvSpPr>
        <p:spPr>
          <a:xfrm>
            <a:off x="6400800" y="4023360"/>
            <a:ext cx="4983480" cy="411480"/>
          </a:xfrm>
          <a:prstGeom prst="rect">
            <a:avLst/>
          </a:prstGeom>
          <a:noFill/>
          <a:ln/>
        </p:spPr>
        <p:txBody>
          <a:bodyPr wrap="square" lIns="0" tIns="0" rIns="0" bIns="0" rtlCol="0" anchor="t"/>
          <a:lstStyle/>
          <a:p>
            <a:pPr indent="0" marL="0">
              <a:buNone/>
            </a:pPr>
            <a:r>
              <a:rPr lang="en-US" sz="1400" dirty="0">
                <a:solidFill>
                  <a:schemeClr val="bg1"/>
                </a:solidFill>
              </a:rPr>
              <a:t>per image on one CPU thread: the 200 ms kiosk budget divided by a safety factor of 5</a:t>
            </a:r>
            <a:endParaRPr lang="en-US" sz="1400" dirty="0"/>
          </a:p>
        </p:txBody>
      </p:sp>
      <p:sp>
        <p:nvSpPr>
          <p:cNvPr id="12" name="Footprint card"/>
          <p:cNvSpPr/>
          <p:nvPr/>
        </p:nvSpPr>
        <p:spPr>
          <a:xfrm>
            <a:off x="6172200" y="4800600"/>
            <a:ext cx="5440680" cy="1325880"/>
          </a:xfrm>
          <a:prstGeom prst="roundRect">
            <a:avLst>
              <a:gd name="adj" fmla="val 5517"/>
            </a:avLst>
          </a:prstGeom>
          <a:solidFill>
            <a:schemeClr val="tx2"/>
          </a:solidFill>
          <a:ln w="12700">
            <a:solidFill>
              <a:schemeClr val="tx2"/>
            </a:solidFill>
            <a:prstDash val="solid"/>
          </a:ln>
        </p:spPr>
      </p:sp>
      <p:sp>
        <p:nvSpPr>
          <p:cNvPr id="13" name="Footprint number"/>
          <p:cNvSpPr txBox="1"/>
          <p:nvPr/>
        </p:nvSpPr>
        <p:spPr>
          <a:xfrm>
            <a:off x="6400800" y="4937760"/>
            <a:ext cx="498348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 100 MB</a:t>
            </a:r>
            <a:endParaRPr lang="en-US" sz="3400" dirty="0"/>
          </a:p>
        </p:txBody>
      </p:sp>
      <p:sp>
        <p:nvSpPr>
          <p:cNvPr id="14" name="Footprint label"/>
          <p:cNvSpPr txBox="1"/>
          <p:nvPr/>
        </p:nvSpPr>
        <p:spPr>
          <a:xfrm>
            <a:off x="6400800" y="5577840"/>
            <a:ext cx="4983480" cy="411480"/>
          </a:xfrm>
          <a:prstGeom prst="rect">
            <a:avLst/>
          </a:prstGeom>
          <a:noFill/>
          <a:ln/>
        </p:spPr>
        <p:txBody>
          <a:bodyPr wrap="square" lIns="0" tIns="0" rIns="0" bIns="0" rtlCol="0" anchor="t"/>
          <a:lstStyle/>
          <a:p>
            <a:pPr indent="0" marL="0">
              <a:buNone/>
            </a:pPr>
            <a:r>
              <a:rPr lang="en-US" sz="1400" dirty="0">
                <a:solidFill>
                  <a:schemeClr val="bg1"/>
                </a:solidFill>
              </a:rPr>
              <a:t>on disk, and trainable in under an hour on a laptop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DATA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1,500 paintings, five styles, and their limits</a:t>
            </a:r>
            <a:endParaRPr lang="en-US" sz="3600" dirty="0"/>
          </a:p>
        </p:txBody>
      </p:sp>
      <p:sp>
        <p:nvSpPr>
          <p:cNvPr id="4" name="Random training images per style frame"/>
          <p:cNvSpPr/>
          <p:nvPr/>
        </p:nvSpPr>
        <p:spPr>
          <a:xfrm>
            <a:off x="493776" y="1682496"/>
            <a:ext cx="5961888" cy="4040880"/>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5" name="Random training images per style" descr="Random training images per style">    </p:cNvPr>
          <p:cNvPicPr>
            <a:picLocks noChangeAspect="1"/>
          </p:cNvPicPr>
          <p:nvPr/>
        </p:nvPicPr>
        <p:blipFill>
          <a:blip r:embed="rId1"/>
          <a:stretch>
            <a:fillRect/>
          </a:stretch>
        </p:blipFill>
        <p:spPr>
          <a:xfrm>
            <a:off x="548640" y="1737360"/>
            <a:ext cx="5852160" cy="3931152"/>
          </a:xfrm>
          <a:prstGeom prst="rect">
            <a:avLst/>
          </a:prstGeom>
        </p:spPr>
      </p:pic>
      <p:sp>
        <p:nvSpPr>
          <p:cNvPr id="6" name="Split"/>
          <p:cNvSpPr txBox="1"/>
          <p:nvPr/>
        </p:nvSpPr>
        <p:spPr>
          <a:xfrm>
            <a:off x="6903720" y="1691640"/>
            <a:ext cx="470916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1,050 / 225 / 225</a:t>
            </a:r>
            <a:endParaRPr lang="en-US" sz="3000" dirty="0"/>
          </a:p>
        </p:txBody>
      </p:sp>
      <p:sp>
        <p:nvSpPr>
          <p:cNvPr id="7" name="Split label"/>
          <p:cNvSpPr txBox="1"/>
          <p:nvPr/>
        </p:nvSpPr>
        <p:spPr>
          <a:xfrm>
            <a:off x="6903720" y="2286000"/>
            <a:ext cx="4709160" cy="640080"/>
          </a:xfrm>
          <a:prstGeom prst="rect">
            <a:avLst/>
          </a:prstGeom>
          <a:noFill/>
          <a:ln/>
        </p:spPr>
        <p:txBody>
          <a:bodyPr wrap="square" lIns="0" tIns="0" rIns="0" bIns="0" rtlCol="0" anchor="t"/>
          <a:lstStyle/>
          <a:p>
            <a:pPr indent="0" marL="0">
              <a:buNone/>
            </a:pPr>
            <a:r>
              <a:rPr lang="en-US" sz="1400" dirty="0">
                <a:solidFill>
                  <a:schemeClr val="bg2"/>
                </a:solidFill>
              </a:rPr>
              <a:t>train / validation / test images, the same split for every model (210 / 45 / 45 per style)</a:t>
            </a:r>
            <a:endParaRPr lang="en-US" sz="1400" dirty="0"/>
          </a:p>
        </p:txBody>
      </p:sp>
      <p:sp>
        <p:nvSpPr>
          <p:cNvPr id="8" name="Limits"/>
          <p:cNvSpPr txBox="1"/>
          <p:nvPr/>
        </p:nvSpPr>
        <p:spPr>
          <a:xfrm>
            <a:off x="6903720" y="3154680"/>
            <a:ext cx="4709160" cy="30175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Most images have no artist (85 to 100 % per style), so we can't split by artist</a:t>
            </a:r>
            <a:endParaRPr lang="en-US" sz="1500" dirty="0"/>
          </a:p>
          <a:p>
            <a:pPr marL="228600" indent="-228600">
              <a:spcAft>
                <a:spcPts val="1000"/>
              </a:spcAft>
              <a:buSzPct val="100000"/>
              <a:buChar char="•"/>
            </a:pPr>
            <a:r>
              <a:rPr lang="en-US" sz="1500" dirty="0">
                <a:solidFill>
                  <a:schemeClr val="bg1"/>
                </a:solidFill>
              </a:rPr>
              <a:t>Impressionism comes from a single source file, Pop Art from two</a:t>
            </a:r>
            <a:endParaRPr lang="en-US" sz="1500" dirty="0"/>
          </a:p>
          <a:p>
            <a:pPr marL="228600" indent="-228600">
              <a:spcAft>
                <a:spcPts val="1000"/>
              </a:spcAft>
              <a:buSzPct val="100000"/>
              <a:buChar char="•"/>
            </a:pPr>
            <a:r>
              <a:rPr lang="en-US" sz="1500" dirty="0">
                <a:solidFill>
                  <a:schemeClr val="bg1"/>
                </a:solidFill>
              </a:rPr>
              <a:t>Some are photos of sculptures, not paintings: about 7 % of Impressionism and 18 % of Pop Art</a:t>
            </a:r>
            <a:endParaRPr lang="en-US" sz="1500" dirty="0"/>
          </a:p>
          <a:p>
            <a:pPr marL="228600" indent="-228600">
              <a:spcAft>
                <a:spcPts val="1000"/>
              </a:spcAft>
              <a:buSzPct val="100000"/>
              <a:buChar char="•"/>
            </a:pPr>
            <a:r>
              <a:rPr lang="en-US" sz="1500" dirty="0">
                <a:solidFill>
                  <a:schemeClr val="bg1"/>
                </a:solidFill>
              </a:rPr>
              <a:t>With 225 test images, an accuracy is only known to about ±5 points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FEED-FORWARD NETWORK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Our feed-forward network</a:t>
            </a:r>
            <a:endParaRPr lang="en-US" sz="3600" dirty="0"/>
          </a:p>
        </p:txBody>
      </p:sp>
      <p:sp>
        <p:nvSpPr>
          <p:cNvPr id="4" name="Layer 1"/>
          <p:cNvSpPr/>
          <p:nvPr/>
        </p:nvSpPr>
        <p:spPr>
          <a:xfrm>
            <a:off x="548640" y="1691640"/>
            <a:ext cx="2377440" cy="960120"/>
          </a:xfrm>
          <a:prstGeom prst="roundRect">
            <a:avLst>
              <a:gd name="adj" fmla="val 7619"/>
            </a:avLst>
          </a:prstGeom>
          <a:solidFill>
            <a:schemeClr val="tx2"/>
          </a:solidFill>
          <a:ln w="12700">
            <a:solidFill>
              <a:schemeClr val="accent1"/>
            </a:solidFill>
            <a:prstDash val="solid"/>
          </a:ln>
        </p:spPr>
      </p:sp>
      <p:sp>
        <p:nvSpPr>
          <p:cNvPr id="5" name="Layer 1 text"/>
          <p:cNvSpPr txBox="1"/>
          <p:nvPr/>
        </p:nvSpPr>
        <p:spPr>
          <a:xfrm>
            <a:off x="548640" y="1691640"/>
            <a:ext cx="2377440" cy="960120"/>
          </a:xfrm>
          <a:prstGeom prst="rect">
            <a:avLst/>
          </a:prstGeom>
          <a:noFill/>
          <a:ln/>
        </p:spPr>
        <p:txBody>
          <a:bodyPr wrap="square" lIns="0" tIns="0" rIns="0" bIns="0" rtlCol="0" anchor="ctr"/>
          <a:lstStyle/>
          <a:p>
            <a:pPr algn="ctr" indent="0" marL="0">
              <a:buNone/>
            </a:pPr>
            <a:r>
              <a:rPr lang="en-US" sz="1500" b="1" dirty="0">
                <a:solidFill>
                  <a:schemeClr val="bg1"/>
                </a:solidFill>
              </a:rPr>
              <a:t>Image 32×32</a:t>
            </a:r>
            <a:endParaRPr lang="en-US" sz="1500" dirty="0"/>
          </a:p>
          <a:p>
            <a:pPr algn="ctr" indent="0" marL="0">
              <a:buNone/>
            </a:pPr>
            <a:r>
              <a:rPr lang="en-US" sz="1500" dirty="0">
                <a:solidFill>
                  <a:schemeClr val="bg2"/>
                </a:solidFill>
              </a:rPr>
              <a:t>3,072 numbers</a:t>
            </a:r>
            <a:endParaRPr lang="en-US" sz="1500" dirty="0"/>
          </a:p>
        </p:txBody>
      </p:sp>
      <p:sp>
        <p:nvSpPr>
          <p:cNvPr id="6" name="Arrow 1"/>
          <p:cNvSpPr/>
          <p:nvPr/>
        </p:nvSpPr>
        <p:spPr>
          <a:xfrm>
            <a:off x="2999232" y="2029968"/>
            <a:ext cx="365760" cy="274320"/>
          </a:xfrm>
          <a:prstGeom prst="rightArrow">
            <a:avLst/>
          </a:prstGeom>
          <a:solidFill>
            <a:schemeClr val="accent1"/>
          </a:solidFill>
          <a:ln w="12700">
            <a:solidFill>
              <a:schemeClr val="accent1"/>
            </a:solidFill>
            <a:prstDash val="solid"/>
          </a:ln>
        </p:spPr>
      </p:sp>
      <p:sp>
        <p:nvSpPr>
          <p:cNvPr id="7" name="Layer 2"/>
          <p:cNvSpPr/>
          <p:nvPr/>
        </p:nvSpPr>
        <p:spPr>
          <a:xfrm>
            <a:off x="3429000" y="1691640"/>
            <a:ext cx="2377440" cy="960120"/>
          </a:xfrm>
          <a:prstGeom prst="roundRect">
            <a:avLst>
              <a:gd name="adj" fmla="val 7619"/>
            </a:avLst>
          </a:prstGeom>
          <a:solidFill>
            <a:schemeClr val="tx2"/>
          </a:solidFill>
          <a:ln w="12700">
            <a:solidFill>
              <a:schemeClr val="accent1"/>
            </a:solidFill>
            <a:prstDash val="solid"/>
          </a:ln>
        </p:spPr>
      </p:sp>
      <p:sp>
        <p:nvSpPr>
          <p:cNvPr id="8" name="Layer 2 text"/>
          <p:cNvSpPr txBox="1"/>
          <p:nvPr/>
        </p:nvSpPr>
        <p:spPr>
          <a:xfrm>
            <a:off x="3429000" y="1691640"/>
            <a:ext cx="2377440" cy="960120"/>
          </a:xfrm>
          <a:prstGeom prst="rect">
            <a:avLst/>
          </a:prstGeom>
          <a:noFill/>
          <a:ln/>
        </p:spPr>
        <p:txBody>
          <a:bodyPr wrap="square" lIns="0" tIns="0" rIns="0" bIns="0" rtlCol="0" anchor="ctr"/>
          <a:lstStyle/>
          <a:p>
            <a:pPr algn="ctr" indent="0" marL="0">
              <a:buNone/>
            </a:pPr>
            <a:r>
              <a:rPr lang="en-US" sz="1500" b="1" dirty="0">
                <a:solidFill>
                  <a:schemeClr val="bg1"/>
                </a:solidFill>
              </a:rPr>
              <a:t>Linear + ReLU</a:t>
            </a:r>
            <a:endParaRPr lang="en-US" sz="1500" dirty="0"/>
          </a:p>
          <a:p>
            <a:pPr algn="ctr" indent="0" marL="0">
              <a:buNone/>
            </a:pPr>
            <a:r>
              <a:rPr lang="en-US" sz="1500" dirty="0">
                <a:solidFill>
                  <a:schemeClr val="bg2"/>
                </a:solidFill>
              </a:rPr>
              <a:t>256 units</a:t>
            </a:r>
            <a:endParaRPr lang="en-US" sz="1500" dirty="0"/>
          </a:p>
        </p:txBody>
      </p:sp>
      <p:sp>
        <p:nvSpPr>
          <p:cNvPr id="9" name="Arrow 2"/>
          <p:cNvSpPr/>
          <p:nvPr/>
        </p:nvSpPr>
        <p:spPr>
          <a:xfrm>
            <a:off x="5879592" y="2029968"/>
            <a:ext cx="365760" cy="274320"/>
          </a:xfrm>
          <a:prstGeom prst="rightArrow">
            <a:avLst/>
          </a:prstGeom>
          <a:solidFill>
            <a:schemeClr val="accent1"/>
          </a:solidFill>
          <a:ln w="12700">
            <a:solidFill>
              <a:schemeClr val="accent1"/>
            </a:solidFill>
            <a:prstDash val="solid"/>
          </a:ln>
        </p:spPr>
      </p:sp>
      <p:sp>
        <p:nvSpPr>
          <p:cNvPr id="10" name="Layer 3"/>
          <p:cNvSpPr/>
          <p:nvPr/>
        </p:nvSpPr>
        <p:spPr>
          <a:xfrm>
            <a:off x="6309360" y="1691640"/>
            <a:ext cx="2377440" cy="960120"/>
          </a:xfrm>
          <a:prstGeom prst="roundRect">
            <a:avLst>
              <a:gd name="adj" fmla="val 7619"/>
            </a:avLst>
          </a:prstGeom>
          <a:solidFill>
            <a:schemeClr val="tx2"/>
          </a:solidFill>
          <a:ln w="12700">
            <a:solidFill>
              <a:schemeClr val="accent1"/>
            </a:solidFill>
            <a:prstDash val="solid"/>
          </a:ln>
        </p:spPr>
      </p:sp>
      <p:sp>
        <p:nvSpPr>
          <p:cNvPr id="11" name="Layer 3 text"/>
          <p:cNvSpPr txBox="1"/>
          <p:nvPr/>
        </p:nvSpPr>
        <p:spPr>
          <a:xfrm>
            <a:off x="6309360" y="1691640"/>
            <a:ext cx="2377440" cy="960120"/>
          </a:xfrm>
          <a:prstGeom prst="rect">
            <a:avLst/>
          </a:prstGeom>
          <a:noFill/>
          <a:ln/>
        </p:spPr>
        <p:txBody>
          <a:bodyPr wrap="square" lIns="0" tIns="0" rIns="0" bIns="0" rtlCol="0" anchor="ctr"/>
          <a:lstStyle/>
          <a:p>
            <a:pPr algn="ctr" indent="0" marL="0">
              <a:buNone/>
            </a:pPr>
            <a:r>
              <a:rPr lang="en-US" sz="1500" b="1" dirty="0">
                <a:solidFill>
                  <a:schemeClr val="bg1"/>
                </a:solidFill>
              </a:rPr>
              <a:t>Linear + ReLU</a:t>
            </a:r>
            <a:endParaRPr lang="en-US" sz="1500" dirty="0"/>
          </a:p>
          <a:p>
            <a:pPr algn="ctr" indent="0" marL="0">
              <a:buNone/>
            </a:pPr>
            <a:r>
              <a:rPr lang="en-US" sz="1500" dirty="0">
                <a:solidFill>
                  <a:schemeClr val="bg2"/>
                </a:solidFill>
              </a:rPr>
              <a:t>128 units</a:t>
            </a:r>
            <a:endParaRPr lang="en-US" sz="1500" dirty="0"/>
          </a:p>
        </p:txBody>
      </p:sp>
      <p:sp>
        <p:nvSpPr>
          <p:cNvPr id="12" name="Arrow 3"/>
          <p:cNvSpPr/>
          <p:nvPr/>
        </p:nvSpPr>
        <p:spPr>
          <a:xfrm>
            <a:off x="8759952" y="2029968"/>
            <a:ext cx="365760" cy="274320"/>
          </a:xfrm>
          <a:prstGeom prst="rightArrow">
            <a:avLst/>
          </a:prstGeom>
          <a:solidFill>
            <a:schemeClr val="accent1"/>
          </a:solidFill>
          <a:ln w="12700">
            <a:solidFill>
              <a:schemeClr val="accent1"/>
            </a:solidFill>
            <a:prstDash val="solid"/>
          </a:ln>
        </p:spPr>
      </p:sp>
      <p:sp>
        <p:nvSpPr>
          <p:cNvPr id="13" name="Layer 4"/>
          <p:cNvSpPr/>
          <p:nvPr/>
        </p:nvSpPr>
        <p:spPr>
          <a:xfrm>
            <a:off x="9189720" y="1691640"/>
            <a:ext cx="2377440" cy="960120"/>
          </a:xfrm>
          <a:prstGeom prst="roundRect">
            <a:avLst>
              <a:gd name="adj" fmla="val 7619"/>
            </a:avLst>
          </a:prstGeom>
          <a:solidFill>
            <a:schemeClr val="tx2"/>
          </a:solidFill>
          <a:ln w="12700">
            <a:solidFill>
              <a:schemeClr val="accent1"/>
            </a:solidFill>
            <a:prstDash val="solid"/>
          </a:ln>
        </p:spPr>
      </p:sp>
      <p:sp>
        <p:nvSpPr>
          <p:cNvPr id="14" name="Layer 4 text"/>
          <p:cNvSpPr txBox="1"/>
          <p:nvPr/>
        </p:nvSpPr>
        <p:spPr>
          <a:xfrm>
            <a:off x="9189720" y="1691640"/>
            <a:ext cx="2377440" cy="960120"/>
          </a:xfrm>
          <a:prstGeom prst="rect">
            <a:avLst/>
          </a:prstGeom>
          <a:noFill/>
          <a:ln/>
        </p:spPr>
        <p:txBody>
          <a:bodyPr wrap="square" lIns="0" tIns="0" rIns="0" bIns="0" rtlCol="0" anchor="ctr"/>
          <a:lstStyle/>
          <a:p>
            <a:pPr algn="ctr" indent="0" marL="0">
              <a:buNone/>
            </a:pPr>
            <a:r>
              <a:rPr lang="en-US" sz="1500" b="1" dirty="0">
                <a:solidFill>
                  <a:schemeClr val="bg1"/>
                </a:solidFill>
              </a:rPr>
              <a:t>Linear</a:t>
            </a:r>
            <a:endParaRPr lang="en-US" sz="1500" dirty="0"/>
          </a:p>
          <a:p>
            <a:pPr algn="ctr" indent="0" marL="0">
              <a:buNone/>
            </a:pPr>
            <a:r>
              <a:rPr lang="en-US" sz="1500" dirty="0">
                <a:solidFill>
                  <a:schemeClr val="bg2"/>
                </a:solidFill>
              </a:rPr>
              <a:t>5 scores, one per style</a:t>
            </a:r>
            <a:endParaRPr lang="en-US" sz="1500" dirty="0"/>
          </a:p>
        </p:txBody>
      </p:sp>
      <p:sp>
        <p:nvSpPr>
          <p:cNvPr id="15" name="Architecture note"/>
          <p:cNvSpPr txBox="1"/>
          <p:nvPr/>
        </p:nvSpPr>
        <p:spPr>
          <a:xfrm>
            <a:off x="548640" y="2834640"/>
            <a:ext cx="11064240" cy="594360"/>
          </a:xfrm>
          <a:prstGeom prst="rect">
            <a:avLst/>
          </a:prstGeom>
          <a:noFill/>
          <a:ln/>
        </p:spPr>
        <p:txBody>
          <a:bodyPr wrap="square" lIns="0" tIns="0" rIns="0" bIns="0" rtlCol="0" anchor="t"/>
          <a:lstStyle/>
          <a:p>
            <a:pPr indent="0" marL="0">
              <a:buNone/>
            </a:pPr>
            <a:r>
              <a:rPr lang="en-US" sz="1500" dirty="0">
                <a:solidFill>
                  <a:schemeClr val="bg1"/>
                </a:solidFill>
              </a:rPr>
              <a:t>820,229 parameters, 96 % of them in the first layer. He initialisation and a small last layer, so the network starts with no favourite style: initial loss 1.61 = ln 5.</a:t>
            </a:r>
            <a:endParaRPr lang="en-US" sz="1500" dirty="0"/>
          </a:p>
        </p:txBody>
      </p:sp>
      <p:graphicFrame>
        <p:nvGraphicFramePr>
          <p:cNvPr id="16" name="Accuracy by input size" descr=""/>
          <p:cNvGraphicFramePr/>
          <p:nvPr/>
        </p:nvGraphicFramePr>
        <p:xfrm>
          <a:off x="548640" y="3520440"/>
          <a:ext cx="5120640" cy="2606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Parameters by input size" descr=""/>
          <p:cNvGraphicFramePr/>
          <p:nvPr/>
        </p:nvGraphicFramePr>
        <p:xfrm>
          <a:off x="5943600" y="3520440"/>
          <a:ext cx="3291840" cy="2606040"/>
        </p:xfrm>
        <a:graphic xmlns:a="http://schemas.openxmlformats.org/drawingml/2006/main">
          <a:graphicData uri="http://schemas.openxmlformats.org/drawingml/2006/chart">
            <c:chart xmlns:c="http://schemas.openxmlformats.org/drawingml/2006/chart" r:id="rId2"/>
          </a:graphicData>
        </a:graphic>
      </p:graphicFrame>
      <p:sp>
        <p:nvSpPr>
          <p:cNvPr id="18" name="Size takeaway"/>
          <p:cNvSpPr txBox="1"/>
          <p:nvPr/>
        </p:nvSpPr>
        <p:spPr>
          <a:xfrm>
            <a:off x="9464040" y="3931920"/>
            <a:ext cx="2148840" cy="1828800"/>
          </a:xfrm>
          <a:prstGeom prst="rect">
            <a:avLst/>
          </a:prstGeom>
          <a:noFill/>
          <a:ln/>
        </p:spPr>
        <p:txBody>
          <a:bodyPr wrap="square" lIns="0" tIns="0" rIns="0" bIns="0" rtlCol="0" anchor="t"/>
          <a:lstStyle/>
          <a:p>
            <a:pPr indent="0" marL="0">
              <a:buNone/>
            </a:pPr>
            <a:r>
              <a:rPr lang="en-US" sz="1600" i="1" dirty="0">
                <a:solidFill>
                  <a:schemeClr val="accent6"/>
                </a:solidFill>
              </a:rPr>
              <a:t>Bigger images don't help: 15× more parameters, no gain. We keep 32 px.</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TRAINING MONITORING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Checking that the training works</a:t>
            </a:r>
            <a:endParaRPr lang="en-US" sz="3600" dirty="0"/>
          </a:p>
        </p:txBody>
      </p:sp>
      <p:sp>
        <p:nvSpPr>
          <p:cNvPr id="4" name="Check 1 card"/>
          <p:cNvSpPr/>
          <p:nvPr/>
        </p:nvSpPr>
        <p:spPr>
          <a:xfrm>
            <a:off x="548640" y="1691640"/>
            <a:ext cx="2606040" cy="1417320"/>
          </a:xfrm>
          <a:prstGeom prst="roundRect">
            <a:avLst>
              <a:gd name="adj" fmla="val 5161"/>
            </a:avLst>
          </a:prstGeom>
          <a:solidFill>
            <a:schemeClr val="tx2"/>
          </a:solidFill>
          <a:ln w="12700">
            <a:solidFill>
              <a:schemeClr val="tx2"/>
            </a:solidFill>
            <a:prstDash val="solid"/>
          </a:ln>
        </p:spPr>
      </p:sp>
      <p:sp>
        <p:nvSpPr>
          <p:cNvPr id="5" name="Check 1 number"/>
          <p:cNvSpPr txBox="1"/>
          <p:nvPr/>
        </p:nvSpPr>
        <p:spPr>
          <a:xfrm>
            <a:off x="777240" y="1828800"/>
            <a:ext cx="214884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1.61</a:t>
            </a:r>
            <a:endParaRPr lang="en-US" sz="3000" dirty="0"/>
          </a:p>
        </p:txBody>
      </p:sp>
      <p:sp>
        <p:nvSpPr>
          <p:cNvPr id="6" name="Check 1 label"/>
          <p:cNvSpPr txBox="1"/>
          <p:nvPr/>
        </p:nvSpPr>
        <p:spPr>
          <a:xfrm>
            <a:off x="777240" y="2468880"/>
            <a:ext cx="2148840" cy="502920"/>
          </a:xfrm>
          <a:prstGeom prst="rect">
            <a:avLst/>
          </a:prstGeom>
          <a:noFill/>
          <a:ln/>
        </p:spPr>
        <p:txBody>
          <a:bodyPr wrap="square" lIns="0" tIns="0" rIns="0" bIns="0" rtlCol="0" anchor="t"/>
          <a:lstStyle/>
          <a:p>
            <a:pPr indent="0" marL="0">
              <a:buNone/>
            </a:pPr>
            <a:r>
              <a:rPr lang="en-US" sz="1400" dirty="0">
                <a:solidFill>
                  <a:schemeClr val="bg1"/>
                </a:solidFill>
              </a:rPr>
              <a:t>initial loss = ln 5: no favourite style at the start</a:t>
            </a:r>
            <a:endParaRPr lang="en-US" sz="1400" dirty="0"/>
          </a:p>
        </p:txBody>
      </p:sp>
      <p:sp>
        <p:nvSpPr>
          <p:cNvPr id="7" name="Check 2 card"/>
          <p:cNvSpPr/>
          <p:nvPr/>
        </p:nvSpPr>
        <p:spPr>
          <a:xfrm>
            <a:off x="3383280" y="1691640"/>
            <a:ext cx="2606040" cy="1417320"/>
          </a:xfrm>
          <a:prstGeom prst="roundRect">
            <a:avLst>
              <a:gd name="adj" fmla="val 5161"/>
            </a:avLst>
          </a:prstGeom>
          <a:solidFill>
            <a:schemeClr val="tx2"/>
          </a:solidFill>
          <a:ln w="12700">
            <a:solidFill>
              <a:schemeClr val="tx2"/>
            </a:solidFill>
            <a:prstDash val="solid"/>
          </a:ln>
        </p:spPr>
      </p:sp>
      <p:sp>
        <p:nvSpPr>
          <p:cNvPr id="8" name="Check 2 number"/>
          <p:cNvSpPr txBox="1"/>
          <p:nvPr/>
        </p:nvSpPr>
        <p:spPr>
          <a:xfrm>
            <a:off x="3611880" y="1828800"/>
            <a:ext cx="214884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7 steps</a:t>
            </a:r>
            <a:endParaRPr lang="en-US" sz="3000" dirty="0"/>
          </a:p>
        </p:txBody>
      </p:sp>
      <p:sp>
        <p:nvSpPr>
          <p:cNvPr id="9" name="Check 2 label"/>
          <p:cNvSpPr txBox="1"/>
          <p:nvPr/>
        </p:nvSpPr>
        <p:spPr>
          <a:xfrm>
            <a:off x="3611880" y="2468880"/>
            <a:ext cx="2148840" cy="502920"/>
          </a:xfrm>
          <a:prstGeom prst="rect">
            <a:avLst/>
          </a:prstGeom>
          <a:noFill/>
          <a:ln/>
        </p:spPr>
        <p:txBody>
          <a:bodyPr wrap="square" lIns="0" tIns="0" rIns="0" bIns="0" rtlCol="0" anchor="t"/>
          <a:lstStyle/>
          <a:p>
            <a:pPr indent="0" marL="0">
              <a:buNone/>
            </a:pPr>
            <a:r>
              <a:rPr lang="en-US" sz="1400" dirty="0">
                <a:solidFill>
                  <a:schemeClr val="bg1"/>
                </a:solidFill>
              </a:rPr>
              <a:t>to memorise a batch of 32 images: the code works</a:t>
            </a:r>
            <a:endParaRPr lang="en-US" sz="1400" dirty="0"/>
          </a:p>
        </p:txBody>
      </p:sp>
      <p:sp>
        <p:nvSpPr>
          <p:cNvPr id="10" name="Check 3 card"/>
          <p:cNvSpPr/>
          <p:nvPr/>
        </p:nvSpPr>
        <p:spPr>
          <a:xfrm>
            <a:off x="6217920" y="1691640"/>
            <a:ext cx="2606040" cy="1417320"/>
          </a:xfrm>
          <a:prstGeom prst="roundRect">
            <a:avLst>
              <a:gd name="adj" fmla="val 5161"/>
            </a:avLst>
          </a:prstGeom>
          <a:solidFill>
            <a:schemeClr val="tx2"/>
          </a:solidFill>
          <a:ln w="12700">
            <a:solidFill>
              <a:schemeClr val="tx2"/>
            </a:solidFill>
            <a:prstDash val="solid"/>
          </a:ln>
        </p:spPr>
      </p:sp>
      <p:sp>
        <p:nvSpPr>
          <p:cNvPr id="11" name="Check 3 number"/>
          <p:cNvSpPr txBox="1"/>
          <p:nvPr/>
        </p:nvSpPr>
        <p:spPr>
          <a:xfrm>
            <a:off x="6446520" y="1828800"/>
            <a:ext cx="214884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1e-4</a:t>
            </a:r>
            <a:endParaRPr lang="en-US" sz="3000" dirty="0"/>
          </a:p>
        </p:txBody>
      </p:sp>
      <p:sp>
        <p:nvSpPr>
          <p:cNvPr id="12" name="Check 3 label"/>
          <p:cNvSpPr txBox="1"/>
          <p:nvPr/>
        </p:nvSpPr>
        <p:spPr>
          <a:xfrm>
            <a:off x="6446520" y="2468880"/>
            <a:ext cx="2148840" cy="502920"/>
          </a:xfrm>
          <a:prstGeom prst="rect">
            <a:avLst/>
          </a:prstGeom>
          <a:noFill/>
          <a:ln/>
        </p:spPr>
        <p:txBody>
          <a:bodyPr wrap="square" lIns="0" tIns="0" rIns="0" bIns="0" rtlCol="0" anchor="t"/>
          <a:lstStyle/>
          <a:p>
            <a:pPr indent="0" marL="0">
              <a:buNone/>
            </a:pPr>
            <a:r>
              <a:rPr lang="en-US" sz="1400" dirty="0">
                <a:solidFill>
                  <a:schemeClr val="bg1"/>
                </a:solidFill>
              </a:rPr>
              <a:t>best learning rate: 44 % validation accuracy (3 seeds)</a:t>
            </a:r>
            <a:endParaRPr lang="en-US" sz="1400" dirty="0"/>
          </a:p>
        </p:txBody>
      </p:sp>
      <p:sp>
        <p:nvSpPr>
          <p:cNvPr id="13" name="Check 4 card"/>
          <p:cNvSpPr/>
          <p:nvPr/>
        </p:nvSpPr>
        <p:spPr>
          <a:xfrm>
            <a:off x="9052560" y="1691640"/>
            <a:ext cx="2606040" cy="1417320"/>
          </a:xfrm>
          <a:prstGeom prst="roundRect">
            <a:avLst>
              <a:gd name="adj" fmla="val 5161"/>
            </a:avLst>
          </a:prstGeom>
          <a:solidFill>
            <a:schemeClr val="tx2"/>
          </a:solidFill>
          <a:ln w="12700">
            <a:solidFill>
              <a:schemeClr val="tx2"/>
            </a:solidFill>
            <a:prstDash val="solid"/>
          </a:ln>
        </p:spPr>
      </p:sp>
      <p:sp>
        <p:nvSpPr>
          <p:cNvPr id="14" name="Check 4 number"/>
          <p:cNvSpPr txBox="1"/>
          <p:nvPr/>
        </p:nvSpPr>
        <p:spPr>
          <a:xfrm>
            <a:off x="9281160" y="1828800"/>
            <a:ext cx="214884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96 %</a:t>
            </a:r>
            <a:endParaRPr lang="en-US" sz="3000" dirty="0"/>
          </a:p>
        </p:txBody>
      </p:sp>
      <p:sp>
        <p:nvSpPr>
          <p:cNvPr id="15" name="Check 4 label"/>
          <p:cNvSpPr txBox="1"/>
          <p:nvPr/>
        </p:nvSpPr>
        <p:spPr>
          <a:xfrm>
            <a:off x="9281160" y="2468880"/>
            <a:ext cx="2148840" cy="502920"/>
          </a:xfrm>
          <a:prstGeom prst="rect">
            <a:avLst/>
          </a:prstGeom>
          <a:noFill/>
          <a:ln/>
        </p:spPr>
        <p:txBody>
          <a:bodyPr wrap="square" lIns="0" tIns="0" rIns="0" bIns="0" rtlCol="0" anchor="t"/>
          <a:lstStyle/>
          <a:p>
            <a:pPr indent="0" marL="0">
              <a:buNone/>
            </a:pPr>
            <a:r>
              <a:rPr lang="en-US" sz="1400" dirty="0">
                <a:solidFill>
                  <a:schemeClr val="bg1"/>
                </a:solidFill>
              </a:rPr>
              <a:t>of ReLUs dead at learning rate 0.01: it stops learning</a:t>
            </a:r>
            <a:endParaRPr lang="en-US" sz="1400" dirty="0"/>
          </a:p>
        </p:txBody>
      </p:sp>
      <p:sp>
        <p:nvSpPr>
          <p:cNvPr id="16" name="Learning-rate sweep frame"/>
          <p:cNvSpPr/>
          <p:nvPr/>
        </p:nvSpPr>
        <p:spPr>
          <a:xfrm>
            <a:off x="1514704" y="3374136"/>
            <a:ext cx="9162288" cy="2920893"/>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17" name="Learning-rate sweep" descr="Learning-rate sweep">    </p:cNvPr>
          <p:cNvPicPr>
            <a:picLocks noChangeAspect="1"/>
          </p:cNvPicPr>
          <p:nvPr/>
        </p:nvPicPr>
        <p:blipFill>
          <a:blip r:embed="rId1"/>
          <a:stretch>
            <a:fillRect/>
          </a:stretch>
        </p:blipFill>
        <p:spPr>
          <a:xfrm>
            <a:off x="1569568" y="3429000"/>
            <a:ext cx="9052560" cy="2811165"/>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FAILURE DIAGNOSIS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It memorises instead of learning style</a:t>
            </a:r>
            <a:endParaRPr lang="en-US" sz="3600" dirty="0"/>
          </a:p>
        </p:txBody>
      </p:sp>
      <p:sp>
        <p:nvSpPr>
          <p:cNvPr id="4" name="Overfitting at 128 px frame"/>
          <p:cNvSpPr/>
          <p:nvPr/>
        </p:nvSpPr>
        <p:spPr>
          <a:xfrm>
            <a:off x="722376" y="1636776"/>
            <a:ext cx="10716768" cy="2791150"/>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5" name="Overfitting at 128 px" descr="Overfitting at 128 px">    </p:cNvPr>
          <p:cNvPicPr>
            <a:picLocks noChangeAspect="1"/>
          </p:cNvPicPr>
          <p:nvPr/>
        </p:nvPicPr>
        <p:blipFill>
          <a:blip r:embed="rId1"/>
          <a:stretch>
            <a:fillRect/>
          </a:stretch>
        </p:blipFill>
        <p:spPr>
          <a:xfrm>
            <a:off x="777240" y="1691640"/>
            <a:ext cx="10607040" cy="2681422"/>
          </a:xfrm>
          <a:prstGeom prst="rect">
            <a:avLst/>
          </a:prstGeom>
        </p:spPr>
      </p:pic>
      <p:sp>
        <p:nvSpPr>
          <p:cNvPr id="6" name="Symptom 1 card"/>
          <p:cNvSpPr/>
          <p:nvPr/>
        </p:nvSpPr>
        <p:spPr>
          <a:xfrm>
            <a:off x="548640" y="4617720"/>
            <a:ext cx="3520440" cy="1508760"/>
          </a:xfrm>
          <a:prstGeom prst="roundRect">
            <a:avLst>
              <a:gd name="adj" fmla="val 4848"/>
            </a:avLst>
          </a:prstGeom>
          <a:solidFill>
            <a:schemeClr val="tx2"/>
          </a:solidFill>
          <a:ln w="12700">
            <a:solidFill>
              <a:schemeClr val="tx2"/>
            </a:solidFill>
            <a:prstDash val="solid"/>
          </a:ln>
        </p:spPr>
      </p:sp>
      <p:sp>
        <p:nvSpPr>
          <p:cNvPr id="7" name="Symptom 1 number"/>
          <p:cNvSpPr txBox="1"/>
          <p:nvPr/>
        </p:nvSpPr>
        <p:spPr>
          <a:xfrm>
            <a:off x="777240" y="4754880"/>
            <a:ext cx="3063240" cy="5943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99.7 % vs 38 %</a:t>
            </a:r>
            <a:endParaRPr lang="en-US" sz="2800" dirty="0"/>
          </a:p>
        </p:txBody>
      </p:sp>
      <p:sp>
        <p:nvSpPr>
          <p:cNvPr id="8" name="Symptom 1 label"/>
          <p:cNvSpPr txBox="1"/>
          <p:nvPr/>
        </p:nvSpPr>
        <p:spPr>
          <a:xfrm>
            <a:off x="777240" y="5394960"/>
            <a:ext cx="3063240" cy="594360"/>
          </a:xfrm>
          <a:prstGeom prst="rect">
            <a:avLst/>
          </a:prstGeom>
          <a:noFill/>
          <a:ln/>
        </p:spPr>
        <p:txBody>
          <a:bodyPr wrap="square" lIns="0" tIns="0" rIns="0" bIns="0" rtlCol="0" anchor="t"/>
          <a:lstStyle/>
          <a:p>
            <a:pPr indent="0" marL="0">
              <a:buNone/>
            </a:pPr>
            <a:r>
              <a:rPr lang="en-US" sz="1400" dirty="0">
                <a:solidFill>
                  <a:schemeClr val="bg1"/>
                </a:solidFill>
              </a:rPr>
              <a:t>training vs validation accuracy (128 px, 12.6 M parameters)</a:t>
            </a:r>
            <a:endParaRPr lang="en-US" sz="1400" dirty="0"/>
          </a:p>
        </p:txBody>
      </p:sp>
      <p:sp>
        <p:nvSpPr>
          <p:cNvPr id="9" name="Symptom 2 card"/>
          <p:cNvSpPr/>
          <p:nvPr/>
        </p:nvSpPr>
        <p:spPr>
          <a:xfrm>
            <a:off x="4315968" y="4617720"/>
            <a:ext cx="3520440" cy="1508760"/>
          </a:xfrm>
          <a:prstGeom prst="roundRect">
            <a:avLst>
              <a:gd name="adj" fmla="val 4848"/>
            </a:avLst>
          </a:prstGeom>
          <a:solidFill>
            <a:schemeClr val="tx2"/>
          </a:solidFill>
          <a:ln w="12700">
            <a:solidFill>
              <a:schemeClr val="tx2"/>
            </a:solidFill>
            <a:prstDash val="solid"/>
          </a:ln>
        </p:spPr>
      </p:sp>
      <p:sp>
        <p:nvSpPr>
          <p:cNvPr id="10" name="Symptom 2 number"/>
          <p:cNvSpPr txBox="1"/>
          <p:nvPr/>
        </p:nvSpPr>
        <p:spPr>
          <a:xfrm>
            <a:off x="4544568" y="4754880"/>
            <a:ext cx="3063240" cy="5943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0.29 → 0.74</a:t>
            </a:r>
            <a:endParaRPr lang="en-US" sz="2800" dirty="0"/>
          </a:p>
        </p:txBody>
      </p:sp>
      <p:sp>
        <p:nvSpPr>
          <p:cNvPr id="11" name="Symptom 2 label"/>
          <p:cNvSpPr txBox="1"/>
          <p:nvPr/>
        </p:nvSpPr>
        <p:spPr>
          <a:xfrm>
            <a:off x="4544568" y="5394960"/>
            <a:ext cx="3063240" cy="594360"/>
          </a:xfrm>
          <a:prstGeom prst="rect">
            <a:avLst/>
          </a:prstGeom>
          <a:noFill/>
          <a:ln/>
        </p:spPr>
        <p:txBody>
          <a:bodyPr wrap="square" lIns="0" tIns="0" rIns="0" bIns="0" rtlCol="0" anchor="t"/>
          <a:lstStyle/>
          <a:p>
            <a:pPr indent="0" marL="0">
              <a:buNone/>
            </a:pPr>
            <a:r>
              <a:rPr lang="en-US" sz="1400" dirty="0">
                <a:solidFill>
                  <a:schemeClr val="bg1"/>
                </a:solidFill>
              </a:rPr>
              <a:t>its confidence on the paintings it gets wrong</a:t>
            </a:r>
            <a:endParaRPr lang="en-US" sz="1400" dirty="0"/>
          </a:p>
        </p:txBody>
      </p:sp>
      <p:sp>
        <p:nvSpPr>
          <p:cNvPr id="12" name="Symptom 3 card"/>
          <p:cNvSpPr/>
          <p:nvPr/>
        </p:nvSpPr>
        <p:spPr>
          <a:xfrm>
            <a:off x="8083296" y="4617720"/>
            <a:ext cx="3520440" cy="1508760"/>
          </a:xfrm>
          <a:prstGeom prst="roundRect">
            <a:avLst>
              <a:gd name="adj" fmla="val 4848"/>
            </a:avLst>
          </a:prstGeom>
          <a:solidFill>
            <a:schemeClr val="tx2"/>
          </a:solidFill>
          <a:ln w="12700">
            <a:solidFill>
              <a:schemeClr val="tx2"/>
            </a:solidFill>
            <a:prstDash val="solid"/>
          </a:ln>
        </p:spPr>
      </p:sp>
      <p:sp>
        <p:nvSpPr>
          <p:cNvPr id="13" name="Symptom 3 number"/>
          <p:cNvSpPr txBox="1"/>
          <p:nvPr/>
        </p:nvSpPr>
        <p:spPr>
          <a:xfrm>
            <a:off x="8311896" y="4754880"/>
            <a:ext cx="3063240" cy="5943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99.3 %</a:t>
            </a:r>
            <a:endParaRPr lang="en-US" sz="2800" dirty="0"/>
          </a:p>
        </p:txBody>
      </p:sp>
      <p:sp>
        <p:nvSpPr>
          <p:cNvPr id="14" name="Symptom 3 label"/>
          <p:cNvSpPr txBox="1"/>
          <p:nvPr/>
        </p:nvSpPr>
        <p:spPr>
          <a:xfrm>
            <a:off x="8311896" y="5394960"/>
            <a:ext cx="3063240" cy="594360"/>
          </a:xfrm>
          <a:prstGeom prst="rect">
            <a:avLst/>
          </a:prstGeom>
          <a:noFill/>
          <a:ln/>
        </p:spPr>
        <p:txBody>
          <a:bodyPr wrap="square" lIns="0" tIns="0" rIns="0" bIns="0" rtlCol="0" anchor="t"/>
          <a:lstStyle/>
          <a:p>
            <a:pPr indent="0" marL="0">
              <a:buNone/>
            </a:pPr>
            <a:r>
              <a:rPr lang="en-US" sz="1400" dirty="0">
                <a:solidFill>
                  <a:schemeClr val="bg1"/>
                </a:solidFill>
              </a:rPr>
              <a:t>training accuracy on randomly shuffled labels: it can memorise pure noise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FIXES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Fixing the overfitting, one change at a time</a:t>
            </a:r>
            <a:endParaRPr lang="en-US" sz="3600" dirty="0"/>
          </a:p>
        </p:txBody>
      </p:sp>
      <p:graphicFrame>
        <p:nvGraphicFramePr>
          <p:cNvPr id="4" name="Ablation" descr=""/>
          <p:cNvGraphicFramePr/>
          <p:nvPr/>
        </p:nvGraphicFramePr>
        <p:xfrm>
          <a:off x="548640" y="1645920"/>
          <a:ext cx="7132320" cy="4526280"/>
        </p:xfrm>
        <a:graphic xmlns:a="http://schemas.openxmlformats.org/drawingml/2006/main">
          <a:graphicData uri="http://schemas.openxmlformats.org/drawingml/2006/chart">
            <c:chart xmlns:c="http://schemas.openxmlformats.org/drawingml/2006/chart" r:id="rId1"/>
          </a:graphicData>
        </a:graphic>
      </p:graphicFrame>
      <p:sp>
        <p:nvSpPr>
          <p:cNvPr id="5" name="Gap card"/>
          <p:cNvSpPr/>
          <p:nvPr/>
        </p:nvSpPr>
        <p:spPr>
          <a:xfrm>
            <a:off x="8046720" y="1691640"/>
            <a:ext cx="3566160" cy="1417320"/>
          </a:xfrm>
          <a:prstGeom prst="roundRect">
            <a:avLst>
              <a:gd name="adj" fmla="val 5161"/>
            </a:avLst>
          </a:prstGeom>
          <a:solidFill>
            <a:schemeClr val="tx2"/>
          </a:solidFill>
          <a:ln w="12700">
            <a:solidFill>
              <a:schemeClr val="tx2"/>
            </a:solidFill>
            <a:prstDash val="solid"/>
          </a:ln>
        </p:spPr>
      </p:sp>
      <p:sp>
        <p:nvSpPr>
          <p:cNvPr id="6" name="Gap number"/>
          <p:cNvSpPr txBox="1"/>
          <p:nvPr/>
        </p:nvSpPr>
        <p:spPr>
          <a:xfrm>
            <a:off x="8275320" y="1828800"/>
            <a:ext cx="310896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62 → 12</a:t>
            </a:r>
            <a:endParaRPr lang="en-US" sz="3400" dirty="0"/>
          </a:p>
        </p:txBody>
      </p:sp>
      <p:sp>
        <p:nvSpPr>
          <p:cNvPr id="7" name="Gap label"/>
          <p:cNvSpPr txBox="1"/>
          <p:nvPr/>
        </p:nvSpPr>
        <p:spPr>
          <a:xfrm>
            <a:off x="8275320" y="2468880"/>
            <a:ext cx="3108960" cy="502920"/>
          </a:xfrm>
          <a:prstGeom prst="rect">
            <a:avLst/>
          </a:prstGeom>
          <a:noFill/>
          <a:ln/>
        </p:spPr>
        <p:txBody>
          <a:bodyPr wrap="square" lIns="0" tIns="0" rIns="0" bIns="0" rtlCol="0" anchor="t"/>
          <a:lstStyle/>
          <a:p>
            <a:pPr indent="0" marL="0">
              <a:buNone/>
            </a:pPr>
            <a:r>
              <a:rPr lang="en-US" sz="1400" dirty="0">
                <a:solidFill>
                  <a:schemeClr val="bg1"/>
                </a:solidFill>
              </a:rPr>
              <a:t>points of gap between training and validation</a:t>
            </a:r>
            <a:endParaRPr lang="en-US" sz="1400" dirty="0"/>
          </a:p>
        </p:txBody>
      </p:sp>
      <p:sp>
        <p:nvSpPr>
          <p:cNvPr id="8" name="Fix results"/>
          <p:cNvSpPr txBox="1"/>
          <p:nvPr/>
        </p:nvSpPr>
        <p:spPr>
          <a:xfrm>
            <a:off x="8046720" y="3383280"/>
            <a:ext cx="3566160" cy="27432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chemeClr val="bg1"/>
                </a:solidFill>
              </a:rPr>
              <a:t>Augmentation and early stopping do the work. Removing them one at a time shows dropout and weight decay add nothing on top</a:t>
            </a:r>
            <a:endParaRPr lang="en-US" sz="1400" dirty="0"/>
          </a:p>
          <a:p>
            <a:pPr marL="228600" indent="-228600">
              <a:spcAft>
                <a:spcPts val="1000"/>
              </a:spcAft>
              <a:buSzPct val="100000"/>
              <a:buChar char="•"/>
            </a:pPr>
            <a:r>
              <a:rPr lang="en-US" sz="1400" dirty="0">
                <a:solidFill>
                  <a:schemeClr val="bg1"/>
                </a:solidFill>
              </a:rPr>
              <a:t>Our final FFN: 45.8 % validation accuracy, 0.08 ms per image, 3.3 MB</a:t>
            </a:r>
            <a:endParaRPr lang="en-US" sz="1400" dirty="0"/>
          </a:p>
          <a:p>
            <a:pPr marL="228600" indent="-228600">
              <a:spcAft>
                <a:spcPts val="1000"/>
              </a:spcAft>
              <a:buSzPct val="100000"/>
              <a:buChar char="•"/>
            </a:pPr>
            <a:r>
              <a:rPr lang="en-US" sz="1400" dirty="0">
                <a:solidFill>
                  <a:schemeClr val="bg1"/>
                </a:solidFill>
              </a:rPr>
              <a:t>It mostly reads colours: dark paintings become Baroque, beige paper Ukiyo-e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CLASSICAL BASELINE · ANTOINE</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Classical baseline</a:t>
            </a:r>
            <a:endParaRPr lang="en-US" sz="3600" dirty="0"/>
          </a:p>
        </p:txBody>
      </p:sp>
      <p:sp>
        <p:nvSpPr>
          <p:cNvPr id="4" name="Text 1"/>
          <p:cNvSpPr/>
          <p:nvPr>
            <p:ph idx="103" type="body" hasCustomPrompt="1"/>
          </p:nvPr>
        </p:nvSpPr>
        <p:spPr>
          <a:xfrm>
            <a:off x="548640" y="2926080"/>
            <a:ext cx="11064240" cy="914400"/>
          </a:xfrm>
          <a:prstGeom prst="rect">
            <a:avLst/>
          </a:prstGeom>
          <a:noFill/>
          <a:ln/>
        </p:spPr>
        <p:txBody>
          <a:bodyPr wrap="square" lIns="0" tIns="0" rIns="0" bIns="0" rtlCol="0"/>
          <a:lstStyle/>
          <a:p>
            <a:pPr algn="ctr" indent="0" marL="0">
              <a:buNone/>
            </a:pPr>
            <a:r>
              <a:rPr lang="en-US" sz="2000" i="1" dirty="0">
                <a:solidFill>
                  <a:schemeClr val="bg2"/>
                </a:solidFill>
              </a:rPr>
              <a:t>Antoine's slide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PRETRAINED CNN · ANTOINE</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Pretrained ResNet18: frozen and fine-tuned</a:t>
            </a:r>
            <a:endParaRPr lang="en-US" sz="3600" dirty="0"/>
          </a:p>
        </p:txBody>
      </p:sp>
      <p:sp>
        <p:nvSpPr>
          <p:cNvPr id="4" name="Text 1"/>
          <p:cNvSpPr/>
          <p:nvPr>
            <p:ph idx="103" type="body" hasCustomPrompt="1"/>
          </p:nvPr>
        </p:nvSpPr>
        <p:spPr>
          <a:xfrm>
            <a:off x="548640" y="2926080"/>
            <a:ext cx="11064240" cy="914400"/>
          </a:xfrm>
          <a:prstGeom prst="rect">
            <a:avLst/>
          </a:prstGeom>
          <a:noFill/>
          <a:ln/>
        </p:spPr>
        <p:txBody>
          <a:bodyPr wrap="square" lIns="0" tIns="0" rIns="0" bIns="0" rtlCol="0"/>
          <a:lstStyle/>
          <a:p>
            <a:pPr algn="ctr" indent="0" marL="0">
              <a:buNone/>
            </a:pPr>
            <a:r>
              <a:rPr lang="en-US" sz="2000" i="1" dirty="0">
                <a:solidFill>
                  <a:schemeClr val="bg2"/>
                </a:solidFill>
              </a:rPr>
              <a:t>Antoine's slide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COMPARISON · ANTOINE</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The four models on the test set</a:t>
            </a:r>
            <a:endParaRPr lang="en-US" sz="3600" dirty="0"/>
          </a:p>
        </p:txBody>
      </p:sp>
      <p:sp>
        <p:nvSpPr>
          <p:cNvPr id="4" name="Text 1"/>
          <p:cNvSpPr/>
          <p:nvPr>
            <p:ph idx="103" type="body" hasCustomPrompt="1"/>
          </p:nvPr>
        </p:nvSpPr>
        <p:spPr>
          <a:xfrm>
            <a:off x="548640" y="2926080"/>
            <a:ext cx="11064240" cy="914400"/>
          </a:xfrm>
          <a:prstGeom prst="rect">
            <a:avLst/>
          </a:prstGeom>
          <a:noFill/>
          <a:ln/>
        </p:spPr>
        <p:txBody>
          <a:bodyPr wrap="square" lIns="0" tIns="0" rIns="0" bIns="0" rtlCol="0"/>
          <a:lstStyle/>
          <a:p>
            <a:pPr algn="ctr" indent="0" marL="0">
              <a:buNone/>
            </a:pPr>
            <a:r>
              <a:rPr lang="en-US" sz="2000" i="1" dirty="0">
                <a:solidFill>
                  <a:schemeClr val="bg2"/>
                </a:solidFill>
              </a:rPr>
              <a:t>Antoine's slide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RECOMMENDATION · ANTOINE</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Recommendation and future work</a:t>
            </a:r>
            <a:endParaRPr lang="en-US" sz="3600" dirty="0"/>
          </a:p>
        </p:txBody>
      </p:sp>
      <p:sp>
        <p:nvSpPr>
          <p:cNvPr id="4" name="Text 1"/>
          <p:cNvSpPr/>
          <p:nvPr>
            <p:ph idx="103" type="body" hasCustomPrompt="1"/>
          </p:nvPr>
        </p:nvSpPr>
        <p:spPr>
          <a:xfrm>
            <a:off x="548640" y="2926080"/>
            <a:ext cx="11064240" cy="914400"/>
          </a:xfrm>
          <a:prstGeom prst="rect">
            <a:avLst/>
          </a:prstGeom>
          <a:noFill/>
          <a:ln/>
        </p:spPr>
        <p:txBody>
          <a:bodyPr wrap="square" lIns="0" tIns="0" rIns="0" bIns="0" rtlCol="0"/>
          <a:lstStyle/>
          <a:p>
            <a:pPr algn="ctr" indent="0" marL="0">
              <a:buNone/>
            </a:pPr>
            <a:r>
              <a:rPr lang="en-US" sz="2000" i="1" dirty="0">
                <a:solidFill>
                  <a:schemeClr val="bg2"/>
                </a:solidFill>
              </a:rPr>
              <a:t>Antoine's slide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GUIDE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The guide in front of a painting</a:t>
            </a:r>
            <a:endParaRPr lang="en-US" sz="3600" dirty="0"/>
          </a:p>
        </p:txBody>
      </p:sp>
      <p:sp>
        <p:nvSpPr>
          <p:cNvPr id="4" name="Confident answer card"/>
          <p:cNvSpPr/>
          <p:nvPr/>
        </p:nvSpPr>
        <p:spPr>
          <a:xfrm>
            <a:off x="548640" y="1691640"/>
            <a:ext cx="5669280" cy="2103120"/>
          </a:xfrm>
          <a:prstGeom prst="roundRect">
            <a:avLst>
              <a:gd name="adj" fmla="val 3478"/>
            </a:avLst>
          </a:prstGeom>
          <a:solidFill>
            <a:schemeClr val="tx2"/>
          </a:solidFill>
          <a:ln w="12700">
            <a:solidFill>
              <a:schemeClr val="tx2"/>
            </a:solidFill>
            <a:prstDash val="solid"/>
          </a:ln>
        </p:spPr>
      </p:sp>
      <p:sp>
        <p:nvSpPr>
          <p:cNvPr id="5" name="Confident answer painting frame"/>
          <p:cNvSpPr/>
          <p:nvPr/>
        </p:nvSpPr>
        <p:spPr>
          <a:xfrm>
            <a:off x="722376" y="1865376"/>
            <a:ext cx="1755648" cy="1755648"/>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6" name="Confident answer painting" descr="Confident answer painting">    </p:cNvPr>
          <p:cNvPicPr>
            <a:picLocks noChangeAspect="1"/>
          </p:cNvPicPr>
          <p:nvPr/>
        </p:nvPicPr>
        <p:blipFill>
          <a:blip r:embed="rId1"/>
          <a:stretch>
            <a:fillRect/>
          </a:stretch>
        </p:blipFill>
        <p:spPr>
          <a:xfrm>
            <a:off x="777240" y="1920240"/>
            <a:ext cx="1645920" cy="1645920"/>
          </a:xfrm>
          <a:prstGeom prst="rect">
            <a:avLst/>
          </a:prstGeom>
        </p:spPr>
      </p:pic>
      <p:sp>
        <p:nvSpPr>
          <p:cNvPr id="7" name="Confident answer style"/>
          <p:cNvSpPr txBox="1"/>
          <p:nvPr/>
        </p:nvSpPr>
        <p:spPr>
          <a:xfrm>
            <a:off x="2697480" y="1874520"/>
            <a:ext cx="333756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Ukiyo-e</a:t>
            </a:r>
            <a:endParaRPr lang="en-US" sz="2400" dirty="0"/>
          </a:p>
        </p:txBody>
      </p:sp>
      <p:sp>
        <p:nvSpPr>
          <p:cNvPr id="8" name="Confident answer confidence"/>
          <p:cNvSpPr txBox="1"/>
          <p:nvPr/>
        </p:nvSpPr>
        <p:spPr>
          <a:xfrm>
            <a:off x="2697480" y="2350008"/>
            <a:ext cx="3337560" cy="292608"/>
          </a:xfrm>
          <a:prstGeom prst="rect">
            <a:avLst/>
          </a:prstGeom>
          <a:noFill/>
          <a:ln/>
        </p:spPr>
        <p:txBody>
          <a:bodyPr wrap="square" lIns="0" tIns="0" rIns="0" bIns="0" rtlCol="0" anchor="ctr"/>
          <a:lstStyle/>
          <a:p>
            <a:pPr indent="0" marL="0">
              <a:buNone/>
            </a:pPr>
            <a:r>
              <a:rPr lang="en-US" sz="1400" b="1" dirty="0">
                <a:solidFill>
                  <a:schemeClr val="accent1"/>
                </a:solidFill>
              </a:rPr>
              <a:t>100 % sure</a:t>
            </a:r>
            <a:endParaRPr lang="en-US" sz="1400" dirty="0"/>
          </a:p>
        </p:txBody>
      </p:sp>
      <p:sp>
        <p:nvSpPr>
          <p:cNvPr id="9" name="Confident answer text"/>
          <p:cNvSpPr txBox="1"/>
          <p:nvPr/>
        </p:nvSpPr>
        <p:spPr>
          <a:xfrm>
            <a:off x="2697480" y="2697480"/>
            <a:ext cx="3337560" cy="960120"/>
          </a:xfrm>
          <a:prstGeom prst="rect">
            <a:avLst/>
          </a:prstGeom>
          <a:noFill/>
          <a:ln/>
        </p:spPr>
        <p:txBody>
          <a:bodyPr wrap="square" lIns="0" tIns="0" rIns="0" bIns="0" rtlCol="0" anchor="t"/>
          <a:lstStyle/>
          <a:p>
            <a:pPr indent="0" marL="0">
              <a:buNone/>
            </a:pPr>
            <a:r>
              <a:rPr lang="en-US" sz="1400" i="1" dirty="0">
                <a:solidFill>
                  <a:schemeClr val="bg2"/>
                </a:solidFill>
              </a:rPr>
              <a:t>“Ukiyo-e means ‘pictures of the floating world’. It is a kind of Japanese art…”</a:t>
            </a:r>
            <a:endParaRPr lang="en-US" sz="1400" dirty="0"/>
          </a:p>
        </p:txBody>
      </p:sp>
      <p:sp>
        <p:nvSpPr>
          <p:cNvPr id="10" name="Not sure answer card"/>
          <p:cNvSpPr/>
          <p:nvPr/>
        </p:nvSpPr>
        <p:spPr>
          <a:xfrm>
            <a:off x="548640" y="4023360"/>
            <a:ext cx="5669280" cy="2103120"/>
          </a:xfrm>
          <a:prstGeom prst="roundRect">
            <a:avLst>
              <a:gd name="adj" fmla="val 3478"/>
            </a:avLst>
          </a:prstGeom>
          <a:solidFill>
            <a:schemeClr val="tx2"/>
          </a:solidFill>
          <a:ln w="12700">
            <a:solidFill>
              <a:schemeClr val="tx2"/>
            </a:solidFill>
            <a:prstDash val="solid"/>
          </a:ln>
        </p:spPr>
      </p:sp>
      <p:sp>
        <p:nvSpPr>
          <p:cNvPr id="11" name="Not sure answer painting frame"/>
          <p:cNvSpPr/>
          <p:nvPr/>
        </p:nvSpPr>
        <p:spPr>
          <a:xfrm>
            <a:off x="722376" y="4197096"/>
            <a:ext cx="1755648" cy="1755648"/>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12" name="Not sure answer painting" descr="Not sure answer painting">    </p:cNvPr>
          <p:cNvPicPr>
            <a:picLocks noChangeAspect="1"/>
          </p:cNvPicPr>
          <p:nvPr/>
        </p:nvPicPr>
        <p:blipFill>
          <a:blip r:embed="rId2"/>
          <a:stretch>
            <a:fillRect/>
          </a:stretch>
        </p:blipFill>
        <p:spPr>
          <a:xfrm>
            <a:off x="777240" y="4251960"/>
            <a:ext cx="1645920" cy="1645920"/>
          </a:xfrm>
          <a:prstGeom prst="rect">
            <a:avLst/>
          </a:prstGeom>
        </p:spPr>
      </p:pic>
      <p:sp>
        <p:nvSpPr>
          <p:cNvPr id="13" name="Not sure answer style"/>
          <p:cNvSpPr txBox="1"/>
          <p:nvPr/>
        </p:nvSpPr>
        <p:spPr>
          <a:xfrm>
            <a:off x="2697480" y="4206240"/>
            <a:ext cx="333756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Not sure</a:t>
            </a:r>
            <a:endParaRPr lang="en-US" sz="2400" dirty="0"/>
          </a:p>
        </p:txBody>
      </p:sp>
      <p:sp>
        <p:nvSpPr>
          <p:cNvPr id="14" name="Not sure answer confidence"/>
          <p:cNvSpPr txBox="1"/>
          <p:nvPr/>
        </p:nvSpPr>
        <p:spPr>
          <a:xfrm>
            <a:off x="2697480" y="4681728"/>
            <a:ext cx="3337560" cy="292608"/>
          </a:xfrm>
          <a:prstGeom prst="rect">
            <a:avLst/>
          </a:prstGeom>
          <a:noFill/>
          <a:ln/>
        </p:spPr>
        <p:txBody>
          <a:bodyPr wrap="square" lIns="0" tIns="0" rIns="0" bIns="0" rtlCol="0" anchor="ctr"/>
          <a:lstStyle/>
          <a:p>
            <a:pPr indent="0" marL="0">
              <a:buNone/>
            </a:pPr>
            <a:r>
              <a:rPr lang="en-US" sz="1400" b="1" dirty="0">
                <a:solidFill>
                  <a:schemeClr val="accent1"/>
                </a:solidFill>
              </a:rPr>
              <a:t>26 % sure</a:t>
            </a:r>
            <a:endParaRPr lang="en-US" sz="1400" dirty="0"/>
          </a:p>
        </p:txBody>
      </p:sp>
      <p:sp>
        <p:nvSpPr>
          <p:cNvPr id="15" name="Not sure answer text"/>
          <p:cNvSpPr txBox="1"/>
          <p:nvPr/>
        </p:nvSpPr>
        <p:spPr>
          <a:xfrm>
            <a:off x="2697480" y="5029200"/>
            <a:ext cx="3337560" cy="960120"/>
          </a:xfrm>
          <a:prstGeom prst="rect">
            <a:avLst/>
          </a:prstGeom>
          <a:noFill/>
          <a:ln/>
        </p:spPr>
        <p:txBody>
          <a:bodyPr wrap="square" lIns="0" tIns="0" rIns="0" bIns="0" rtlCol="0" anchor="t"/>
          <a:lstStyle/>
          <a:p>
            <a:pPr indent="0" marL="0">
              <a:buNone/>
            </a:pPr>
            <a:r>
              <a:rPr lang="en-US" sz="1400" i="1" dirty="0">
                <a:solidFill>
                  <a:schemeClr val="bg2"/>
                </a:solidFill>
              </a:rPr>
              <a:t>“Sorry, I'm not sure which style this is. Try taking the photo again…”</a:t>
            </a:r>
            <a:endParaRPr lang="en-US" sz="1400" dirty="0"/>
          </a:p>
        </p:txBody>
      </p:sp>
      <p:sp>
        <p:nvSpPr>
          <p:cNvPr id="16" name="Coverage card"/>
          <p:cNvSpPr/>
          <p:nvPr/>
        </p:nvSpPr>
        <p:spPr>
          <a:xfrm>
            <a:off x="6492240" y="1691640"/>
            <a:ext cx="2468880" cy="1417320"/>
          </a:xfrm>
          <a:prstGeom prst="roundRect">
            <a:avLst>
              <a:gd name="adj" fmla="val 5161"/>
            </a:avLst>
          </a:prstGeom>
          <a:solidFill>
            <a:schemeClr val="tx2"/>
          </a:solidFill>
          <a:ln w="12700">
            <a:solidFill>
              <a:schemeClr val="tx2"/>
            </a:solidFill>
            <a:prstDash val="solid"/>
          </a:ln>
        </p:spPr>
      </p:sp>
      <p:sp>
        <p:nvSpPr>
          <p:cNvPr id="17" name="Coverage number"/>
          <p:cNvSpPr txBox="1"/>
          <p:nvPr/>
        </p:nvSpPr>
        <p:spPr>
          <a:xfrm>
            <a:off x="6720840" y="1828800"/>
            <a:ext cx="2011680" cy="59436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80 %</a:t>
            </a:r>
            <a:endParaRPr lang="en-US" sz="3200" dirty="0"/>
          </a:p>
        </p:txBody>
      </p:sp>
      <p:sp>
        <p:nvSpPr>
          <p:cNvPr id="18" name="Coverage label"/>
          <p:cNvSpPr txBox="1"/>
          <p:nvPr/>
        </p:nvSpPr>
        <p:spPr>
          <a:xfrm>
            <a:off x="6720840" y="2468880"/>
            <a:ext cx="2011680" cy="502920"/>
          </a:xfrm>
          <a:prstGeom prst="rect">
            <a:avLst/>
          </a:prstGeom>
          <a:noFill/>
          <a:ln/>
        </p:spPr>
        <p:txBody>
          <a:bodyPr wrap="square" lIns="0" tIns="0" rIns="0" bIns="0" rtlCol="0" anchor="t"/>
          <a:lstStyle/>
          <a:p>
            <a:pPr indent="0" marL="0">
              <a:buNone/>
            </a:pPr>
            <a:r>
              <a:rPr lang="en-US" sz="1400" dirty="0">
                <a:solidFill>
                  <a:schemeClr val="bg1"/>
                </a:solidFill>
              </a:rPr>
              <a:t>of visitors get an answer</a:t>
            </a:r>
            <a:endParaRPr lang="en-US" sz="1400" dirty="0"/>
          </a:p>
        </p:txBody>
      </p:sp>
      <p:sp>
        <p:nvSpPr>
          <p:cNvPr id="19" name="Accuracy when answering card"/>
          <p:cNvSpPr/>
          <p:nvPr/>
        </p:nvSpPr>
        <p:spPr>
          <a:xfrm>
            <a:off x="9144000" y="1691640"/>
            <a:ext cx="2468880" cy="1417320"/>
          </a:xfrm>
          <a:prstGeom prst="roundRect">
            <a:avLst>
              <a:gd name="adj" fmla="val 5161"/>
            </a:avLst>
          </a:prstGeom>
          <a:solidFill>
            <a:schemeClr val="tx2"/>
          </a:solidFill>
          <a:ln w="12700">
            <a:solidFill>
              <a:schemeClr val="tx2"/>
            </a:solidFill>
            <a:prstDash val="solid"/>
          </a:ln>
        </p:spPr>
      </p:sp>
      <p:sp>
        <p:nvSpPr>
          <p:cNvPr id="20" name="Accuracy when answering number"/>
          <p:cNvSpPr txBox="1"/>
          <p:nvPr/>
        </p:nvSpPr>
        <p:spPr>
          <a:xfrm>
            <a:off x="9372600" y="1828800"/>
            <a:ext cx="2011680" cy="59436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90 %</a:t>
            </a:r>
            <a:endParaRPr lang="en-US" sz="3200" dirty="0"/>
          </a:p>
        </p:txBody>
      </p:sp>
      <p:sp>
        <p:nvSpPr>
          <p:cNvPr id="21" name="Accuracy when answering label"/>
          <p:cNvSpPr txBox="1"/>
          <p:nvPr/>
        </p:nvSpPr>
        <p:spPr>
          <a:xfrm>
            <a:off x="9372600" y="2468880"/>
            <a:ext cx="2011680" cy="502920"/>
          </a:xfrm>
          <a:prstGeom prst="rect">
            <a:avLst/>
          </a:prstGeom>
          <a:noFill/>
          <a:ln/>
        </p:spPr>
        <p:txBody>
          <a:bodyPr wrap="square" lIns="0" tIns="0" rIns="0" bIns="0" rtlCol="0" anchor="t"/>
          <a:lstStyle/>
          <a:p>
            <a:pPr indent="0" marL="0">
              <a:buNone/>
            </a:pPr>
            <a:r>
              <a:rPr lang="en-US" sz="1400" dirty="0">
                <a:solidFill>
                  <a:schemeClr val="bg1"/>
                </a:solidFill>
              </a:rPr>
              <a:t>of those answers are right</a:t>
            </a:r>
            <a:endParaRPr lang="en-US" sz="1400" dirty="0"/>
          </a:p>
        </p:txBody>
      </p:sp>
      <p:sp>
        <p:nvSpPr>
          <p:cNvPr id="22" name="Guide takeaway"/>
          <p:cNvSpPr txBox="1"/>
          <p:nvPr/>
        </p:nvSpPr>
        <p:spPr>
          <a:xfrm>
            <a:off x="6492240" y="3291840"/>
            <a:ext cx="5120640" cy="685800"/>
          </a:xfrm>
          <a:prstGeom prst="rect">
            <a:avLst/>
          </a:prstGeom>
          <a:noFill/>
          <a:ln/>
        </p:spPr>
        <p:txBody>
          <a:bodyPr wrap="square" lIns="0" tIns="0" rIns="0" bIns="0" rtlCol="0" anchor="t"/>
          <a:lstStyle/>
          <a:p>
            <a:pPr indent="0" marL="0">
              <a:buNone/>
            </a:pPr>
            <a:r>
              <a:rPr lang="en-US" sz="1400" i="1" dirty="0">
                <a:solidFill>
                  <a:schemeClr val="accent6"/>
                </a:solidFill>
              </a:rPr>
              <a:t>Below a confidence threshold it says "not sure" instead of guessing. The FFN would have to stay silent 94 % of the time.</a:t>
            </a:r>
            <a:endParaRPr lang="en-US" sz="1400" dirty="0"/>
          </a:p>
        </p:txBody>
      </p:sp>
      <p:sp>
        <p:nvSpPr>
          <p:cNvPr id="23" name="Coverage vs accuracy frame"/>
          <p:cNvSpPr/>
          <p:nvPr/>
        </p:nvSpPr>
        <p:spPr>
          <a:xfrm>
            <a:off x="6894576" y="4014216"/>
            <a:ext cx="4041648" cy="2330464"/>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24" name="Coverage vs accuracy" descr="Coverage vs accuracy">    </p:cNvPr>
          <p:cNvPicPr>
            <a:picLocks noChangeAspect="1"/>
          </p:cNvPicPr>
          <p:nvPr/>
        </p:nvPicPr>
        <p:blipFill>
          <a:blip r:embed="rId3"/>
          <a:stretch>
            <a:fillRect/>
          </a:stretch>
        </p:blipFill>
        <p:spPr>
          <a:xfrm>
            <a:off x="6949440" y="4069080"/>
            <a:ext cx="3931920" cy="2220736"/>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1064240" cy="1097280"/>
          </a:xfrm>
          <a:prstGeom prst="rect">
            <a:avLst/>
          </a:prstGeom>
          <a:noFill/>
          <a:ln/>
        </p:spPr>
        <p:txBody>
          <a:bodyPr wrap="square" lIns="0" tIns="0" rIns="0" bIns="0" rtlCol="0"/>
          <a:lstStyle/>
          <a:p>
            <a:pPr algn="ctr" indent="0" marL="0">
              <a:buNone/>
            </a:pPr>
            <a:r>
              <a:rPr lang="en-US" sz="4800" b="1" dirty="0">
                <a:solidFill>
                  <a:schemeClr val="bg1"/>
                </a:solidFill>
                <a:latin typeface="Cambria" pitchFamily="34" charset="0"/>
                <a:ea typeface="Cambria" pitchFamily="34" charset="-122"/>
                <a:cs typeface="Cambria" pitchFamily="34" charset="-120"/>
              </a:rPr>
              <a:t>Thank you</a:t>
            </a:r>
            <a:endParaRPr lang="en-US" sz="4800" dirty="0"/>
          </a:p>
        </p:txBody>
      </p:sp>
      <p:sp>
        <p:nvSpPr>
          <p:cNvPr id="3" name="Text 0"/>
          <p:cNvSpPr/>
          <p:nvPr>
            <p:ph idx="101" type="body" hasCustomPrompt="1"/>
          </p:nvPr>
        </p:nvSpPr>
        <p:spPr>
          <a:xfrm>
            <a:off x="548640" y="3429000"/>
            <a:ext cx="11064240" cy="548640"/>
          </a:xfrm>
          <a:prstGeom prst="rect">
            <a:avLst/>
          </a:prstGeom>
          <a:noFill/>
          <a:ln/>
        </p:spPr>
        <p:txBody>
          <a:bodyPr wrap="square" lIns="0" tIns="0" rIns="0" bIns="0" rtlCol="0"/>
          <a:lstStyle/>
          <a:p>
            <a:pPr algn="ctr" indent="0" marL="0">
              <a:buNone/>
            </a:pPr>
            <a:r>
              <a:rPr lang="en-US" sz="2000" i="1" dirty="0">
                <a:solidFill>
                  <a:schemeClr val="accent1"/>
                </a:solidFill>
              </a:rPr>
              <a:t>Questions?</a:t>
            </a:r>
            <a:endParaRPr lang="en-US" sz="2000" dirty="0"/>
          </a:p>
        </p:txBody>
      </p:sp>
      <p:sp>
        <p:nvSpPr>
          <p:cNvPr id="4" name="Text 0"/>
          <p:cNvSpPr/>
          <p:nvPr>
            <p:ph idx="102" type="body" hasCustomPrompt="1"/>
          </p:nvPr>
        </p:nvSpPr>
        <p:spPr>
          <a:xfrm>
            <a:off x="548640" y="5120640"/>
            <a:ext cx="11064240" cy="365760"/>
          </a:xfrm>
          <a:prstGeom prst="rect">
            <a:avLst/>
          </a:prstGeom>
          <a:noFill/>
          <a:ln/>
        </p:spPr>
        <p:txBody>
          <a:bodyPr wrap="square" lIns="0" tIns="0" rIns="0" bIns="0" rtlCol="0"/>
          <a:lstStyle/>
          <a:p>
            <a:pPr algn="ctr" indent="0" marL="0">
              <a:buNone/>
            </a:pPr>
            <a:r>
              <a:rPr lang="en-US" sz="1400" dirty="0">
                <a:solidFill>
                  <a:schemeClr val="bg2"/>
                </a:solidFill>
              </a:rPr>
              <a:t>github.com/anthonyrascle43-stack/Neural-Network-Project</a:t>
            </a:r>
            <a:endParaRPr lang="en-US" sz="1400" dirty="0"/>
          </a:p>
        </p:txBody>
      </p:sp>
    </p:spTree>
  </p:cSld>
  <p:clrMapOvr>
    <a:masterClrMapping/>
  </p:clrMapOvr>
</p:sld>
</file>

<file path=ppt/theme/theme1.xml><?xml version="1.0" encoding="utf-8"?>
<a:theme xmlns:a="http://schemas.openxmlformats.org/drawingml/2006/main" name="Museum Night">
  <a:themeElements>
    <a:clrScheme name="Museum Night">
      <a:dk1>
        <a:srgbClr val="15130F"/>
      </a:dk1>
      <a:lt1>
        <a:srgbClr val="F3EEE5"/>
      </a:lt1>
      <a:dk2>
        <a:srgbClr val="2A2520"/>
      </a:dk2>
      <a:lt2>
        <a:srgbClr val="B4AC9E"/>
      </a:lt2>
      <a:accent1>
        <a:srgbClr val="C9A44C"/>
      </a:accent1>
      <a:accent2>
        <a:srgbClr val="8E6F3E"/>
      </a:accent2>
      <a:accent3>
        <a:srgbClr val="7E9C86"/>
      </a:accent3>
      <a:accent4>
        <a:srgbClr val="C0644A"/>
      </a:accent4>
      <a:accent5>
        <a:srgbClr val="6F8FB0"/>
      </a:accent5>
      <a:accent6>
        <a:srgbClr val="E3D3A8"/>
      </a:accent6>
      <a:hlink>
        <a:srgbClr val="C9A44C"/>
      </a:hlink>
      <a:folHlink>
        <a:srgbClr val="8E6F3E"/>
      </a:folHlink>
    </a:clrScheme>
    <a:fontScheme name="Museum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Museum Guide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Museum Guide</dc:title>
  <dc:subject>Neural Networks and Deep Learning, final project</dc:subject>
  <dc:creator>Anthony Rascle</dc:creator>
  <cp:lastModifiedBy>Anthony Rascle</cp:lastModifiedBy>
  <cp:revision>1</cp:revision>
  <dcterms:created xsi:type="dcterms:W3CDTF">2026-10-20T12:35:52Z</dcterms:created>
  <dcterms:modified xsi:type="dcterms:W3CDTF">2026-10-20T12:35:52Z</dcterms:modified>
</cp:coreProperties>
</file>